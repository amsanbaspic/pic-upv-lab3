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2"/>
  </p:notesMasterIdLst>
  <p:handoutMasterIdLst>
    <p:handoutMasterId r:id="rId13"/>
  </p:handoutMasterIdLst>
  <p:sldIdLst>
    <p:sldId id="256" r:id="rId2"/>
    <p:sldId id="289" r:id="rId3"/>
    <p:sldId id="290" r:id="rId4"/>
    <p:sldId id="297" r:id="rId5"/>
    <p:sldId id="298" r:id="rId6"/>
    <p:sldId id="299" r:id="rId7"/>
    <p:sldId id="295" r:id="rId8"/>
    <p:sldId id="296" r:id="rId9"/>
    <p:sldId id="293" r:id="rId10"/>
    <p:sldId id="288" r:id="rId11"/>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38" autoAdjust="0"/>
    <p:restoredTop sz="95033" autoAdjust="0"/>
  </p:normalViewPr>
  <p:slideViewPr>
    <p:cSldViewPr>
      <p:cViewPr varScale="1">
        <p:scale>
          <a:sx n="82" d="100"/>
          <a:sy n="82" d="100"/>
        </p:scale>
        <p:origin x="1152" y="72"/>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23/03/2026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23/03/2026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B2A21-C6A2-C5B9-2DCA-3754617037C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BC95D30-E081-8AAE-817B-40A03306A70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A6FC665-BCC5-C316-DC0F-D9DFBC4440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4DB17553-B500-6323-E98B-E84BE727295F}"/>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25376748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DDBC6-7EB2-AE62-0F4B-A0A0672ADDB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98084C1-6F54-16C8-7D2F-21346675C89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E869975-D523-6D26-7FF4-105B03035773}"/>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0561EB6-B461-33D1-E122-96F4761D22F7}"/>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10737731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2917382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
        <p:nvSpPr>
          <p:cNvPr id="8" name="Holder 4">
            <a:extLst>
              <a:ext uri="{FF2B5EF4-FFF2-40B4-BE49-F238E27FC236}">
                <a16:creationId xmlns:a16="http://schemas.microsoft.com/office/drawing/2014/main" id="{4A8576ED-D269-3C6B-30E8-402BA30F4741}"/>
              </a:ext>
            </a:extLst>
          </p:cNvPr>
          <p:cNvSpPr>
            <a:spLocks noGrp="1"/>
          </p:cNvSpPr>
          <p:nvPr>
            <p:ph type="ftr" sz="quarter" idx="5"/>
          </p:nvPr>
        </p:nvSpPr>
        <p:spPr>
          <a:xfrm>
            <a:off x="5486400" y="6465069"/>
            <a:ext cx="1676400" cy="138499"/>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 INTERFEROMETERS I</a:t>
            </a:r>
            <a:endParaRPr spc="-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3. INTERFEROMETERS I</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
        <p:nvSpPr>
          <p:cNvPr id="8" name="Holder 4">
            <a:extLst>
              <a:ext uri="{FF2B5EF4-FFF2-40B4-BE49-F238E27FC236}">
                <a16:creationId xmlns:a16="http://schemas.microsoft.com/office/drawing/2014/main" id="{085B3A29-7AE1-3DAD-3BD8-A0E9707EE888}"/>
              </a:ext>
            </a:extLst>
          </p:cNvPr>
          <p:cNvSpPr>
            <a:spLocks noGrp="1"/>
          </p:cNvSpPr>
          <p:nvPr>
            <p:ph type="ftr" sz="quarter" idx="5"/>
          </p:nvPr>
        </p:nvSpPr>
        <p:spPr>
          <a:xfrm>
            <a:off x="5486400" y="6465069"/>
            <a:ext cx="1676400" cy="138499"/>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 INTERFEROMETERS I</a:t>
            </a:r>
            <a:endParaRPr spc="-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486400" y="6465069"/>
            <a:ext cx="1676400" cy="138499"/>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 INTERFEROMETERS I</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svg"/><Relationship Id="rId7"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hyperlink" Target="https://github.com/cccanvas-upv/pic-upv-lab3.git"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30.png"/><Relationship Id="rId5" Type="http://schemas.openxmlformats.org/officeDocument/2006/relationships/image" Target="../media/image4.sv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8299324" cy="1010533"/>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3. </a:t>
            </a:r>
            <a:r>
              <a:rPr lang="es-ES" sz="3200" b="1" dirty="0" err="1">
                <a:latin typeface="Lucida Sans"/>
                <a:cs typeface="Lucida Sans"/>
              </a:rPr>
              <a:t>Interferometers</a:t>
            </a:r>
            <a:r>
              <a:rPr lang="es-ES" sz="3200" b="1" dirty="0">
                <a:latin typeface="Lucida Sans"/>
                <a:cs typeface="Lucida Sans"/>
              </a:rPr>
              <a:t> I – MZI</a:t>
            </a:r>
          </a:p>
          <a:p>
            <a:pPr marL="12700">
              <a:lnSpc>
                <a:spcPct val="100000"/>
              </a:lnSpc>
              <a:spcBef>
                <a:spcPts val="100"/>
              </a:spcBef>
            </a:pP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a:t>
            </a:r>
            <a:r>
              <a:rPr lang="es-ES" spc="165" dirty="0">
                <a:latin typeface="Arial"/>
                <a:cs typeface="Arial"/>
              </a:rPr>
              <a:t>: Andrés Sánchez-Toril Bastrygina</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3. INTERFEROMETERS I</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000" b="1" kern="0" dirty="0">
                <a:solidFill>
                  <a:sysClr val="windowText" lastClr="000000"/>
                </a:solidFill>
              </a:rPr>
              <a:t>SOFTWARE</a:t>
            </a:r>
          </a:p>
          <a:p>
            <a:pPr marL="342900" indent="-342900">
              <a:buFont typeface="Arial" panose="020B0604020202020204" pitchFamily="34" charset="0"/>
              <a:buChar char="•"/>
            </a:pPr>
            <a:r>
              <a:rPr lang="en-US" kern="0" dirty="0">
                <a:solidFill>
                  <a:sysClr val="windowText" lastClr="000000"/>
                </a:solidFill>
              </a:rPr>
              <a:t>Python notebook supplied by instructors</a:t>
            </a:r>
            <a:endParaRPr lang="en-US" kern="0" dirty="0">
              <a:solidFill>
                <a:sysClr val="windowText" lastClr="000000"/>
              </a:solidFill>
              <a:sym typeface="Wingdings" pitchFamily="2" charset="2"/>
            </a:endParaRPr>
          </a:p>
          <a:p>
            <a:pPr algn="just"/>
            <a:endParaRPr lang="en-US" sz="2000" b="1" kern="0" dirty="0">
              <a:solidFill>
                <a:sysClr val="windowText" lastClr="000000"/>
              </a:solidFill>
              <a:sym typeface="Wingdings" pitchFamily="2" charset="2"/>
            </a:endParaRPr>
          </a:p>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a:t>
            </a:r>
            <a:r>
              <a:rPr lang="en-US" kern="0" dirty="0" err="1">
                <a:solidFill>
                  <a:sysClr val="windowText" lastClr="000000"/>
                </a:solidFill>
                <a:sym typeface="Wingdings" pitchFamily="2" charset="2"/>
              </a:rPr>
              <a:t>Poliformat</a:t>
            </a:r>
            <a:r>
              <a:rPr lang="en-US" kern="0" dirty="0">
                <a:solidFill>
                  <a:sysClr val="windowText" lastClr="000000"/>
                </a:solidFill>
                <a:sym typeface="Wingdings" pitchFamily="2" charset="2"/>
              </a:rPr>
              <a:t>  download the 030_INTERFEROMETERS_v2025_Student_UPDATE2.ipynb</a:t>
            </a:r>
          </a:p>
          <a:p>
            <a:pPr marL="342900" indent="-342900" algn="just">
              <a:buFont typeface="Arial" panose="020B0604020202020204" pitchFamily="34" charset="0"/>
              <a:buChar char="•"/>
            </a:pPr>
            <a:r>
              <a:rPr lang="es-ES" dirty="0">
                <a:hlinkClick r:id="rId4" tooltip="https://github.com/cccanvas-upv/pic-upv-lab3.git"/>
              </a:rPr>
              <a:t>https://github.com/cccanvas-upv/pic-upv-lab3.git</a:t>
            </a:r>
            <a:endParaRPr lang="en-US" kern="0" dirty="0">
              <a:solidFill>
                <a:sysClr val="windowText" lastClr="000000"/>
              </a:solidFill>
              <a:sym typeface="Wingdings" pitchFamily="2" charset="2"/>
            </a:endParaRPr>
          </a:p>
          <a:p>
            <a:pPr algn="just"/>
            <a:endParaRPr lang="en-US" b="1" i="1" dirty="0"/>
          </a:p>
          <a:p>
            <a:pPr algn="just"/>
            <a:r>
              <a:rPr lang="en-US" b="1" i="1" dirty="0"/>
              <a:t>COMPONENT </a:t>
            </a:r>
            <a:r>
              <a:rPr lang="en-US" i="1" dirty="0"/>
              <a:t>to be studied: Mach-</a:t>
            </a:r>
            <a:r>
              <a:rPr lang="en-US" i="1" dirty="0" err="1"/>
              <a:t>Zendher</a:t>
            </a:r>
            <a:r>
              <a:rPr lang="en-US" i="1" dirty="0"/>
              <a:t> Interferometer (MZI)</a:t>
            </a:r>
            <a:endParaRPr lang="en-US" b="1" i="1" dirty="0"/>
          </a:p>
          <a:p>
            <a:pPr algn="just"/>
            <a:endParaRPr lang="en-US" sz="2000" b="1" i="1" dirty="0"/>
          </a:p>
          <a:p>
            <a:pPr algn="just"/>
            <a:endParaRPr lang="en-US" sz="2000" kern="0" dirty="0">
              <a:solidFill>
                <a:sysClr val="windowText" lastClr="000000"/>
              </a:solidFill>
            </a:endParaRPr>
          </a:p>
        </p:txBody>
      </p:sp>
      <p:sp>
        <p:nvSpPr>
          <p:cNvPr id="6" name="Rectángulo 5">
            <a:extLst>
              <a:ext uri="{FF2B5EF4-FFF2-40B4-BE49-F238E27FC236}">
                <a16:creationId xmlns:a16="http://schemas.microsoft.com/office/drawing/2014/main" id="{35FA208B-932F-D4ED-88E9-25FD18EC7B01}"/>
              </a:ext>
            </a:extLst>
          </p:cNvPr>
          <p:cNvSpPr/>
          <p:nvPr/>
        </p:nvSpPr>
        <p:spPr>
          <a:xfrm>
            <a:off x="4561100" y="4664608"/>
            <a:ext cx="3222171"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13" name="Rectángulo 12">
            <a:extLst>
              <a:ext uri="{FF2B5EF4-FFF2-40B4-BE49-F238E27FC236}">
                <a16:creationId xmlns:a16="http://schemas.microsoft.com/office/drawing/2014/main" id="{C4EDD22A-FE36-2345-71E2-5ADFA2129F2D}"/>
              </a:ext>
            </a:extLst>
          </p:cNvPr>
          <p:cNvSpPr/>
          <p:nvPr/>
        </p:nvSpPr>
        <p:spPr>
          <a:xfrm>
            <a:off x="4561099" y="5095683"/>
            <a:ext cx="3222171"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0D94160E-A324-6E21-DC14-0EE2D556E973}"/>
                  </a:ext>
                </a:extLst>
              </p:cNvPr>
              <p:cNvSpPr txBox="1"/>
              <p:nvPr/>
            </p:nvSpPr>
            <p:spPr>
              <a:xfrm>
                <a:off x="5634197" y="4293214"/>
                <a:ext cx="1245321" cy="369332"/>
              </a:xfrm>
              <a:prstGeom prst="rect">
                <a:avLst/>
              </a:prstGeom>
              <a:noFill/>
            </p:spPr>
            <p:txBody>
              <a:bodyPr wrap="square" rtlCol="0">
                <a:spAutoFit/>
              </a:bodyPr>
              <a:lstStyle/>
              <a:p>
                <a:pPr algn="ctr"/>
                <a14:m>
                  <m:oMath xmlns:m="http://schemas.openxmlformats.org/officeDocument/2006/math">
                    <m:sSub>
                      <m:sSubPr>
                        <m:ctrlPr>
                          <a:rPr lang="en-US" i="1" dirty="0" smtClean="0">
                            <a:solidFill>
                              <a:schemeClr val="tx1"/>
                            </a:solidFill>
                            <a:latin typeface="Cambria Math" panose="02040503050406030204" pitchFamily="18" charset="0"/>
                          </a:rPr>
                        </m:ctrlPr>
                      </m:sSubPr>
                      <m:e>
                        <m:r>
                          <a:rPr lang="es-ES" b="0" i="1" dirty="0" smtClean="0">
                            <a:solidFill>
                              <a:schemeClr val="tx1"/>
                            </a:solidFill>
                            <a:latin typeface="Cambria Math" panose="02040503050406030204" pitchFamily="18" charset="0"/>
                          </a:rPr>
                          <m:t>𝛽</m:t>
                        </m:r>
                      </m:e>
                      <m:sub>
                        <m:r>
                          <a:rPr lang="es-ES" b="0" i="1" dirty="0" smtClean="0">
                            <a:solidFill>
                              <a:schemeClr val="tx1"/>
                            </a:solidFill>
                            <a:latin typeface="Cambria Math" panose="02040503050406030204" pitchFamily="18" charset="0"/>
                          </a:rPr>
                          <m:t>𝑢</m:t>
                        </m:r>
                      </m:sub>
                    </m:sSub>
                  </m:oMath>
                </a14:m>
                <a:r>
                  <a:rPr lang="en-US" dirty="0">
                    <a:solidFill>
                      <a:schemeClr val="tx1"/>
                    </a:solidFill>
                  </a:rPr>
                  <a:t>, </a:t>
                </a:r>
                <a14:m>
                  <m:oMath xmlns:m="http://schemas.openxmlformats.org/officeDocument/2006/math">
                    <m:sSub>
                      <m:sSubPr>
                        <m:ctrlPr>
                          <a:rPr lang="en-US" i="1" dirty="0">
                            <a:solidFill>
                              <a:schemeClr val="tx1"/>
                            </a:solidFill>
                            <a:latin typeface="Cambria Math" panose="02040503050406030204" pitchFamily="18" charset="0"/>
                          </a:rPr>
                        </m:ctrlPr>
                      </m:sSubPr>
                      <m:e>
                        <m:r>
                          <a:rPr lang="es-ES" b="0" i="1" dirty="0" smtClean="0">
                            <a:solidFill>
                              <a:schemeClr val="tx1"/>
                            </a:solidFill>
                            <a:latin typeface="Cambria Math" panose="02040503050406030204" pitchFamily="18" charset="0"/>
                          </a:rPr>
                          <m:t>𝐿</m:t>
                        </m:r>
                      </m:e>
                      <m:sub>
                        <m:r>
                          <a:rPr lang="es-ES" i="1" dirty="0">
                            <a:solidFill>
                              <a:schemeClr val="tx1"/>
                            </a:solidFill>
                            <a:latin typeface="Cambria Math" panose="02040503050406030204" pitchFamily="18" charset="0"/>
                          </a:rPr>
                          <m:t>𝑢</m:t>
                        </m:r>
                      </m:sub>
                    </m:sSub>
                  </m:oMath>
                </a14:m>
                <a:r>
                  <a:rPr lang="en-US" dirty="0">
                    <a:solidFill>
                      <a:schemeClr val="tx1"/>
                    </a:solidFill>
                  </a:rPr>
                  <a:t> </a:t>
                </a:r>
              </a:p>
            </p:txBody>
          </p:sp>
        </mc:Choice>
        <mc:Fallback xmlns="">
          <p:sp>
            <p:nvSpPr>
              <p:cNvPr id="22" name="CuadroTexto 21">
                <a:extLst>
                  <a:ext uri="{FF2B5EF4-FFF2-40B4-BE49-F238E27FC236}">
                    <a16:creationId xmlns:a16="http://schemas.microsoft.com/office/drawing/2014/main" id="{0D94160E-A324-6E21-DC14-0EE2D556E973}"/>
                  </a:ext>
                </a:extLst>
              </p:cNvPr>
              <p:cNvSpPr txBox="1">
                <a:spLocks noRot="1" noChangeAspect="1" noMove="1" noResize="1" noEditPoints="1" noAdjustHandles="1" noChangeArrowheads="1" noChangeShapeType="1" noTextEdit="1"/>
              </p:cNvSpPr>
              <p:nvPr/>
            </p:nvSpPr>
            <p:spPr>
              <a:xfrm>
                <a:off x="5634197" y="4293214"/>
                <a:ext cx="1245321" cy="369332"/>
              </a:xfrm>
              <a:prstGeom prst="rect">
                <a:avLst/>
              </a:prstGeom>
              <a:blipFill>
                <a:blip r:embed="rId5"/>
                <a:stretch>
                  <a:fillRect t="-8197" b="-24590"/>
                </a:stretch>
              </a:blipFill>
            </p:spPr>
            <p:txBody>
              <a:bodyPr/>
              <a:lstStyle/>
              <a:p>
                <a:r>
                  <a:rPr lang="es-ES">
                    <a:noFill/>
                  </a:rPr>
                  <a:t> </a:t>
                </a:r>
              </a:p>
            </p:txBody>
          </p:sp>
        </mc:Fallback>
      </mc:AlternateContent>
      <p:sp>
        <p:nvSpPr>
          <p:cNvPr id="14" name="Rectángulo 13">
            <a:extLst>
              <a:ext uri="{FF2B5EF4-FFF2-40B4-BE49-F238E27FC236}">
                <a16:creationId xmlns:a16="http://schemas.microsoft.com/office/drawing/2014/main" id="{ECE69EBF-757C-A9D1-FFC8-627784359781}"/>
              </a:ext>
            </a:extLst>
          </p:cNvPr>
          <p:cNvSpPr/>
          <p:nvPr/>
        </p:nvSpPr>
        <p:spPr>
          <a:xfrm>
            <a:off x="2642165" y="4667484"/>
            <a:ext cx="1886532"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15" name="Rectángulo 14">
            <a:extLst>
              <a:ext uri="{FF2B5EF4-FFF2-40B4-BE49-F238E27FC236}">
                <a16:creationId xmlns:a16="http://schemas.microsoft.com/office/drawing/2014/main" id="{EE13A858-EE2A-8624-F13C-636DED623D27}"/>
              </a:ext>
            </a:extLst>
          </p:cNvPr>
          <p:cNvSpPr/>
          <p:nvPr/>
        </p:nvSpPr>
        <p:spPr>
          <a:xfrm>
            <a:off x="2642164" y="5098559"/>
            <a:ext cx="1886532"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19" name="Rectángulo 18">
            <a:extLst>
              <a:ext uri="{FF2B5EF4-FFF2-40B4-BE49-F238E27FC236}">
                <a16:creationId xmlns:a16="http://schemas.microsoft.com/office/drawing/2014/main" id="{C1076A0B-8DBA-DB5F-DC0F-1CF449A81D38}"/>
              </a:ext>
            </a:extLst>
          </p:cNvPr>
          <p:cNvSpPr/>
          <p:nvPr/>
        </p:nvSpPr>
        <p:spPr>
          <a:xfrm>
            <a:off x="2856086" y="4458476"/>
            <a:ext cx="1375954" cy="914400"/>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solidFill>
                <a:schemeClr val="bg1">
                  <a:lumMod val="65000"/>
                </a:schemeClr>
              </a:solidFill>
            </a:endParaRPr>
          </a:p>
        </p:txBody>
      </p:sp>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EF5E72A5-F125-01A3-6239-44DD988AC98A}"/>
                  </a:ext>
                </a:extLst>
              </p:cNvPr>
              <p:cNvSpPr txBox="1"/>
              <p:nvPr/>
            </p:nvSpPr>
            <p:spPr>
              <a:xfrm>
                <a:off x="2919955" y="4694053"/>
                <a:ext cx="129167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ES" b="0" i="1" smtClean="0">
                              <a:solidFill>
                                <a:schemeClr val="tx1"/>
                              </a:solidFill>
                              <a:latin typeface="Cambria Math" panose="02040503050406030204" pitchFamily="18" charset="0"/>
                            </a:rPr>
                          </m:ctrlPr>
                        </m:sSubPr>
                        <m:e>
                          <m:r>
                            <a:rPr lang="es-ES" b="0" i="1" smtClean="0">
                              <a:solidFill>
                                <a:schemeClr val="tx1"/>
                              </a:solidFill>
                              <a:latin typeface="Cambria Math" panose="02040503050406030204" pitchFamily="18" charset="0"/>
                            </a:rPr>
                            <m:t>𝑘</m:t>
                          </m:r>
                        </m:e>
                        <m:sub>
                          <m:r>
                            <a:rPr lang="es-ES" b="0" i="1" smtClean="0">
                              <a:solidFill>
                                <a:schemeClr val="tx1"/>
                              </a:solidFill>
                              <a:latin typeface="Cambria Math" panose="02040503050406030204" pitchFamily="18" charset="0"/>
                            </a:rPr>
                            <m:t>𝑎</m:t>
                          </m:r>
                        </m:sub>
                      </m:sSub>
                    </m:oMath>
                  </m:oMathPara>
                </a14:m>
                <a:endParaRPr lang="en-US" dirty="0">
                  <a:solidFill>
                    <a:schemeClr val="tx1"/>
                  </a:solidFill>
                </a:endParaRPr>
              </a:p>
            </p:txBody>
          </p:sp>
        </mc:Choice>
        <mc:Fallback xmlns="">
          <p:sp>
            <p:nvSpPr>
              <p:cNvPr id="20" name="CuadroTexto 19">
                <a:extLst>
                  <a:ext uri="{FF2B5EF4-FFF2-40B4-BE49-F238E27FC236}">
                    <a16:creationId xmlns:a16="http://schemas.microsoft.com/office/drawing/2014/main" id="{EF5E72A5-F125-01A3-6239-44DD988AC98A}"/>
                  </a:ext>
                </a:extLst>
              </p:cNvPr>
              <p:cNvSpPr txBox="1">
                <a:spLocks noRot="1" noChangeAspect="1" noMove="1" noResize="1" noEditPoints="1" noAdjustHandles="1" noChangeArrowheads="1" noChangeShapeType="1" noTextEdit="1"/>
              </p:cNvSpPr>
              <p:nvPr/>
            </p:nvSpPr>
            <p:spPr>
              <a:xfrm>
                <a:off x="2919955" y="4694053"/>
                <a:ext cx="1291674" cy="369332"/>
              </a:xfrm>
              <a:prstGeom prst="rect">
                <a:avLst/>
              </a:prstGeom>
              <a:blipFill>
                <a:blip r:embed="rId6"/>
                <a:stretch>
                  <a:fillRect/>
                </a:stretch>
              </a:blipFill>
            </p:spPr>
            <p:txBody>
              <a:bodyPr/>
              <a:lstStyle/>
              <a:p>
                <a:r>
                  <a:rPr lang="es-ES">
                    <a:noFill/>
                  </a:rPr>
                  <a:t> </a:t>
                </a:r>
              </a:p>
            </p:txBody>
          </p:sp>
        </mc:Fallback>
      </mc:AlternateContent>
      <p:sp>
        <p:nvSpPr>
          <p:cNvPr id="24" name="CuadroTexto 23">
            <a:extLst>
              <a:ext uri="{FF2B5EF4-FFF2-40B4-BE49-F238E27FC236}">
                <a16:creationId xmlns:a16="http://schemas.microsoft.com/office/drawing/2014/main" id="{E82D8A99-C12E-9B5A-D44F-DC39CF2187E7}"/>
              </a:ext>
            </a:extLst>
          </p:cNvPr>
          <p:cNvSpPr txBox="1"/>
          <p:nvPr/>
        </p:nvSpPr>
        <p:spPr>
          <a:xfrm>
            <a:off x="1422486" y="4934965"/>
            <a:ext cx="1245321" cy="369332"/>
          </a:xfrm>
          <a:prstGeom prst="rect">
            <a:avLst/>
          </a:prstGeom>
          <a:noFill/>
        </p:spPr>
        <p:txBody>
          <a:bodyPr wrap="square" rtlCol="0">
            <a:spAutoFit/>
          </a:bodyPr>
          <a:lstStyle/>
          <a:p>
            <a:pPr algn="r"/>
            <a:r>
              <a:rPr lang="en-US" dirty="0">
                <a:solidFill>
                  <a:schemeClr val="bg1">
                    <a:lumMod val="65000"/>
                  </a:schemeClr>
                </a:solidFill>
              </a:rPr>
              <a:t>In1</a:t>
            </a:r>
          </a:p>
        </p:txBody>
      </p:sp>
      <p:sp>
        <p:nvSpPr>
          <p:cNvPr id="25" name="CuadroTexto 24">
            <a:extLst>
              <a:ext uri="{FF2B5EF4-FFF2-40B4-BE49-F238E27FC236}">
                <a16:creationId xmlns:a16="http://schemas.microsoft.com/office/drawing/2014/main" id="{AF3AEF45-E8B3-D1F2-8A9B-3A0585B1DA38}"/>
              </a:ext>
            </a:extLst>
          </p:cNvPr>
          <p:cNvSpPr txBox="1"/>
          <p:nvPr/>
        </p:nvSpPr>
        <p:spPr>
          <a:xfrm>
            <a:off x="1438475" y="4491415"/>
            <a:ext cx="1245321" cy="369332"/>
          </a:xfrm>
          <a:prstGeom prst="rect">
            <a:avLst/>
          </a:prstGeom>
          <a:noFill/>
        </p:spPr>
        <p:txBody>
          <a:bodyPr wrap="square" rtlCol="0">
            <a:spAutoFit/>
          </a:bodyPr>
          <a:lstStyle/>
          <a:p>
            <a:pPr algn="r"/>
            <a:r>
              <a:rPr lang="en-US" dirty="0">
                <a:solidFill>
                  <a:schemeClr val="bg1">
                    <a:lumMod val="65000"/>
                  </a:schemeClr>
                </a:solidFill>
              </a:rPr>
              <a:t>In2</a:t>
            </a:r>
          </a:p>
        </p:txBody>
      </p:sp>
      <p:sp>
        <p:nvSpPr>
          <p:cNvPr id="17" name="Rectángulo 16">
            <a:extLst>
              <a:ext uri="{FF2B5EF4-FFF2-40B4-BE49-F238E27FC236}">
                <a16:creationId xmlns:a16="http://schemas.microsoft.com/office/drawing/2014/main" id="{6C1DD7CE-5AFF-6AAD-ABB0-7F12BBFDC181}"/>
              </a:ext>
            </a:extLst>
          </p:cNvPr>
          <p:cNvSpPr/>
          <p:nvPr/>
        </p:nvSpPr>
        <p:spPr>
          <a:xfrm>
            <a:off x="7822666" y="4652133"/>
            <a:ext cx="1818832"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18" name="Rectángulo 17">
            <a:extLst>
              <a:ext uri="{FF2B5EF4-FFF2-40B4-BE49-F238E27FC236}">
                <a16:creationId xmlns:a16="http://schemas.microsoft.com/office/drawing/2014/main" id="{BF18895E-AB87-954B-BE18-94A83ABEF83B}"/>
              </a:ext>
            </a:extLst>
          </p:cNvPr>
          <p:cNvSpPr/>
          <p:nvPr/>
        </p:nvSpPr>
        <p:spPr>
          <a:xfrm>
            <a:off x="7822665" y="5083208"/>
            <a:ext cx="1818832"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21" name="Rectángulo 20">
            <a:extLst>
              <a:ext uri="{FF2B5EF4-FFF2-40B4-BE49-F238E27FC236}">
                <a16:creationId xmlns:a16="http://schemas.microsoft.com/office/drawing/2014/main" id="{EC9EBD3D-98EF-BFF4-3EF2-FB53BDFDC1B9}"/>
              </a:ext>
            </a:extLst>
          </p:cNvPr>
          <p:cNvSpPr/>
          <p:nvPr/>
        </p:nvSpPr>
        <p:spPr>
          <a:xfrm>
            <a:off x="8037575" y="4467074"/>
            <a:ext cx="1375954" cy="914400"/>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34" name="CuadroTexto 33">
            <a:extLst>
              <a:ext uri="{FF2B5EF4-FFF2-40B4-BE49-F238E27FC236}">
                <a16:creationId xmlns:a16="http://schemas.microsoft.com/office/drawing/2014/main" id="{1C2F6896-54D4-8706-AA99-764079F2D35D}"/>
              </a:ext>
            </a:extLst>
          </p:cNvPr>
          <p:cNvSpPr txBox="1"/>
          <p:nvPr/>
        </p:nvSpPr>
        <p:spPr>
          <a:xfrm>
            <a:off x="9659709" y="4916768"/>
            <a:ext cx="1245321" cy="369332"/>
          </a:xfrm>
          <a:prstGeom prst="rect">
            <a:avLst/>
          </a:prstGeom>
          <a:noFill/>
        </p:spPr>
        <p:txBody>
          <a:bodyPr wrap="square" rtlCol="0">
            <a:spAutoFit/>
          </a:bodyPr>
          <a:lstStyle/>
          <a:p>
            <a:r>
              <a:rPr lang="en-US" dirty="0">
                <a:solidFill>
                  <a:schemeClr val="bg1">
                    <a:lumMod val="65000"/>
                  </a:schemeClr>
                </a:solidFill>
              </a:rPr>
              <a:t>Out1</a:t>
            </a:r>
          </a:p>
        </p:txBody>
      </p:sp>
      <p:sp>
        <p:nvSpPr>
          <p:cNvPr id="36" name="CuadroTexto 35">
            <a:extLst>
              <a:ext uri="{FF2B5EF4-FFF2-40B4-BE49-F238E27FC236}">
                <a16:creationId xmlns:a16="http://schemas.microsoft.com/office/drawing/2014/main" id="{5006711D-654E-EB6C-E90D-0190AA8EE20A}"/>
              </a:ext>
            </a:extLst>
          </p:cNvPr>
          <p:cNvSpPr txBox="1"/>
          <p:nvPr/>
        </p:nvSpPr>
        <p:spPr>
          <a:xfrm>
            <a:off x="9680893" y="4458476"/>
            <a:ext cx="1245321" cy="369332"/>
          </a:xfrm>
          <a:prstGeom prst="rect">
            <a:avLst/>
          </a:prstGeom>
          <a:noFill/>
        </p:spPr>
        <p:txBody>
          <a:bodyPr wrap="square" rtlCol="0">
            <a:spAutoFit/>
          </a:bodyPr>
          <a:lstStyle/>
          <a:p>
            <a:r>
              <a:rPr lang="en-US" dirty="0">
                <a:solidFill>
                  <a:schemeClr val="bg1">
                    <a:lumMod val="65000"/>
                  </a:schemeClr>
                </a:solidFill>
              </a:rPr>
              <a:t>Out2</a:t>
            </a:r>
          </a:p>
        </p:txBody>
      </p:sp>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979C4EB3-5014-92C7-FAAB-64D3285CF6AC}"/>
                  </a:ext>
                </a:extLst>
              </p:cNvPr>
              <p:cNvSpPr txBox="1"/>
              <p:nvPr/>
            </p:nvSpPr>
            <p:spPr>
              <a:xfrm>
                <a:off x="8119322" y="4706953"/>
                <a:ext cx="129167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ES" b="0" i="1" smtClean="0">
                              <a:solidFill>
                                <a:schemeClr val="tx1"/>
                              </a:solidFill>
                              <a:latin typeface="Cambria Math" panose="02040503050406030204" pitchFamily="18" charset="0"/>
                            </a:rPr>
                          </m:ctrlPr>
                        </m:sSubPr>
                        <m:e>
                          <m:r>
                            <a:rPr lang="es-ES" b="0" i="1" smtClean="0">
                              <a:solidFill>
                                <a:schemeClr val="tx1"/>
                              </a:solidFill>
                              <a:latin typeface="Cambria Math" panose="02040503050406030204" pitchFamily="18" charset="0"/>
                            </a:rPr>
                            <m:t>𝑘</m:t>
                          </m:r>
                        </m:e>
                        <m:sub>
                          <m:r>
                            <a:rPr lang="es-ES" b="0" i="1" smtClean="0">
                              <a:solidFill>
                                <a:schemeClr val="tx1"/>
                              </a:solidFill>
                              <a:latin typeface="Cambria Math" panose="02040503050406030204" pitchFamily="18" charset="0"/>
                            </a:rPr>
                            <m:t>𝑏</m:t>
                          </m:r>
                        </m:sub>
                      </m:sSub>
                    </m:oMath>
                  </m:oMathPara>
                </a14:m>
                <a:endParaRPr lang="en-US" dirty="0">
                  <a:solidFill>
                    <a:schemeClr val="tx1"/>
                  </a:solidFill>
                </a:endParaRPr>
              </a:p>
            </p:txBody>
          </p:sp>
        </mc:Choice>
        <mc:Fallback xmlns="">
          <p:sp>
            <p:nvSpPr>
              <p:cNvPr id="39" name="CuadroTexto 38">
                <a:extLst>
                  <a:ext uri="{FF2B5EF4-FFF2-40B4-BE49-F238E27FC236}">
                    <a16:creationId xmlns:a16="http://schemas.microsoft.com/office/drawing/2014/main" id="{979C4EB3-5014-92C7-FAAB-64D3285CF6AC}"/>
                  </a:ext>
                </a:extLst>
              </p:cNvPr>
              <p:cNvSpPr txBox="1">
                <a:spLocks noRot="1" noChangeAspect="1" noMove="1" noResize="1" noEditPoints="1" noAdjustHandles="1" noChangeArrowheads="1" noChangeShapeType="1" noTextEdit="1"/>
              </p:cNvSpPr>
              <p:nvPr/>
            </p:nvSpPr>
            <p:spPr>
              <a:xfrm>
                <a:off x="8119322" y="4706953"/>
                <a:ext cx="1291674" cy="369332"/>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0" name="CuadroTexto 39">
                <a:extLst>
                  <a:ext uri="{FF2B5EF4-FFF2-40B4-BE49-F238E27FC236}">
                    <a16:creationId xmlns:a16="http://schemas.microsoft.com/office/drawing/2014/main" id="{72F4EC49-F7E4-B921-90B7-75679E5144D1}"/>
                  </a:ext>
                </a:extLst>
              </p:cNvPr>
              <p:cNvSpPr txBox="1"/>
              <p:nvPr/>
            </p:nvSpPr>
            <p:spPr>
              <a:xfrm>
                <a:off x="5653085" y="5192639"/>
                <a:ext cx="1245321" cy="369332"/>
              </a:xfrm>
              <a:prstGeom prst="rect">
                <a:avLst/>
              </a:prstGeom>
              <a:noFill/>
            </p:spPr>
            <p:txBody>
              <a:bodyPr wrap="square" rtlCol="0">
                <a:spAutoFit/>
              </a:bodyPr>
              <a:lstStyle/>
              <a:p>
                <a:pPr algn="ctr"/>
                <a14:m>
                  <m:oMath xmlns:m="http://schemas.openxmlformats.org/officeDocument/2006/math">
                    <m:sSub>
                      <m:sSubPr>
                        <m:ctrlPr>
                          <a:rPr lang="en-US" i="1" dirty="0" smtClean="0">
                            <a:solidFill>
                              <a:schemeClr val="tx1"/>
                            </a:solidFill>
                            <a:latin typeface="Cambria Math" panose="02040503050406030204" pitchFamily="18" charset="0"/>
                          </a:rPr>
                        </m:ctrlPr>
                      </m:sSubPr>
                      <m:e>
                        <m:r>
                          <a:rPr lang="es-ES" b="0" i="1" dirty="0" smtClean="0">
                            <a:solidFill>
                              <a:schemeClr val="tx1"/>
                            </a:solidFill>
                            <a:latin typeface="Cambria Math" panose="02040503050406030204" pitchFamily="18" charset="0"/>
                          </a:rPr>
                          <m:t>𝛽</m:t>
                        </m:r>
                      </m:e>
                      <m:sub>
                        <m:r>
                          <a:rPr lang="es-ES" b="0" i="1" dirty="0" smtClean="0">
                            <a:solidFill>
                              <a:schemeClr val="tx1"/>
                            </a:solidFill>
                            <a:latin typeface="Cambria Math" panose="02040503050406030204" pitchFamily="18" charset="0"/>
                          </a:rPr>
                          <m:t>𝑑</m:t>
                        </m:r>
                      </m:sub>
                    </m:sSub>
                  </m:oMath>
                </a14:m>
                <a:r>
                  <a:rPr lang="en-US" dirty="0">
                    <a:solidFill>
                      <a:schemeClr val="tx1"/>
                    </a:solidFill>
                  </a:rPr>
                  <a:t>, </a:t>
                </a:r>
                <a14:m>
                  <m:oMath xmlns:m="http://schemas.openxmlformats.org/officeDocument/2006/math">
                    <m:sSub>
                      <m:sSubPr>
                        <m:ctrlPr>
                          <a:rPr lang="en-US" i="1" dirty="0">
                            <a:solidFill>
                              <a:schemeClr val="tx1"/>
                            </a:solidFill>
                            <a:latin typeface="Cambria Math" panose="02040503050406030204" pitchFamily="18" charset="0"/>
                          </a:rPr>
                        </m:ctrlPr>
                      </m:sSubPr>
                      <m:e>
                        <m:r>
                          <a:rPr lang="es-ES" b="0" i="1" dirty="0" smtClean="0">
                            <a:solidFill>
                              <a:schemeClr val="tx1"/>
                            </a:solidFill>
                            <a:latin typeface="Cambria Math" panose="02040503050406030204" pitchFamily="18" charset="0"/>
                          </a:rPr>
                          <m:t>𝐿</m:t>
                        </m:r>
                      </m:e>
                      <m:sub>
                        <m:r>
                          <a:rPr lang="es-ES" b="0" i="1" dirty="0" smtClean="0">
                            <a:solidFill>
                              <a:schemeClr val="tx1"/>
                            </a:solidFill>
                            <a:latin typeface="Cambria Math" panose="02040503050406030204" pitchFamily="18" charset="0"/>
                          </a:rPr>
                          <m:t>𝑑</m:t>
                        </m:r>
                      </m:sub>
                    </m:sSub>
                  </m:oMath>
                </a14:m>
                <a:r>
                  <a:rPr lang="en-US" dirty="0">
                    <a:solidFill>
                      <a:schemeClr val="tx1"/>
                    </a:solidFill>
                  </a:rPr>
                  <a:t> </a:t>
                </a:r>
              </a:p>
            </p:txBody>
          </p:sp>
        </mc:Choice>
        <mc:Fallback xmlns="">
          <p:sp>
            <p:nvSpPr>
              <p:cNvPr id="40" name="CuadroTexto 39">
                <a:extLst>
                  <a:ext uri="{FF2B5EF4-FFF2-40B4-BE49-F238E27FC236}">
                    <a16:creationId xmlns:a16="http://schemas.microsoft.com/office/drawing/2014/main" id="{72F4EC49-F7E4-B921-90B7-75679E5144D1}"/>
                  </a:ext>
                </a:extLst>
              </p:cNvPr>
              <p:cNvSpPr txBox="1">
                <a:spLocks noRot="1" noChangeAspect="1" noMove="1" noResize="1" noEditPoints="1" noAdjustHandles="1" noChangeArrowheads="1" noChangeShapeType="1" noTextEdit="1"/>
              </p:cNvSpPr>
              <p:nvPr/>
            </p:nvSpPr>
            <p:spPr>
              <a:xfrm>
                <a:off x="5653085" y="5192639"/>
                <a:ext cx="1245321" cy="369332"/>
              </a:xfrm>
              <a:prstGeom prst="rect">
                <a:avLst/>
              </a:prstGeom>
              <a:blipFill>
                <a:blip r:embed="rId8"/>
                <a:stretch>
                  <a:fillRect t="-10000" b="-26667"/>
                </a:stretch>
              </a:blipFill>
            </p:spPr>
            <p:txBody>
              <a:bodyPr/>
              <a:lstStyle/>
              <a:p>
                <a:r>
                  <a:rPr lang="es-ES">
                    <a:noFill/>
                  </a:rPr>
                  <a:t> </a:t>
                </a:r>
              </a:p>
            </p:txBody>
          </p:sp>
        </mc:Fallback>
      </mc:AlternateContent>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t>ASSESSMENT #1 </a:t>
            </a:r>
            <a:r>
              <a:rPr lang="en-US" sz="2500" dirty="0"/>
              <a:t>– Recap from theory – MZI configurations</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mc:AlternateContent xmlns:mc="http://schemas.openxmlformats.org/markup-compatibility/2006">
        <mc:Choice xmlns:a14="http://schemas.microsoft.com/office/drawing/2010/main" Requires="a14">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000" dirty="0"/>
                  <a:t>Provide one example of implementation for each one of the configurations studied during MZI lecture:</a:t>
                </a:r>
              </a:p>
              <a:p>
                <a:pPr lvl="1"/>
                <a:r>
                  <a:rPr lang="en-US" sz="2000" dirty="0"/>
                  <a:t>1. Balanced configuration</a:t>
                </a:r>
              </a:p>
              <a:p>
                <a:pPr lvl="1"/>
                <a:r>
                  <a:rPr lang="en-US" sz="2000" dirty="0"/>
                  <a:t>2. Unbalanced configuration:</a:t>
                </a:r>
              </a:p>
              <a:p>
                <a:pPr lvl="1"/>
                <a:r>
                  <a:rPr lang="en-US" sz="2000" dirty="0"/>
                  <a:t>  2.1.   Phase difference </a:t>
                </a:r>
              </a:p>
              <a:p>
                <a:pPr lvl="1"/>
                <a:r>
                  <a:rPr lang="en-US" sz="2000" dirty="0"/>
                  <a:t>  2.2.   Delay imbalance</a:t>
                </a:r>
              </a:p>
              <a:p>
                <a:r>
                  <a:rPr lang="en-US" sz="2000" dirty="0"/>
                  <a:t>Compute also some examples with </a:t>
                </a:r>
                <a14:m>
                  <m:oMath xmlns:m="http://schemas.openxmlformats.org/officeDocument/2006/math">
                    <m:r>
                      <m:rPr>
                        <m:sty m:val="p"/>
                      </m:rPr>
                      <a:rPr lang="es-ES" sz="2000" b="0" i="1" smtClean="0">
                        <a:latin typeface="Cambria Math" panose="02040503050406030204" pitchFamily="18" charset="0"/>
                      </a:rPr>
                      <m:t>α</m:t>
                    </m:r>
                    <m:r>
                      <a:rPr lang="es-ES" sz="2000" i="1">
                        <a:latin typeface="Cambria Math" panose="02040503050406030204" pitchFamily="18" charset="0"/>
                        <a:ea typeface="Cambria Math" panose="02040503050406030204" pitchFamily="18" charset="0"/>
                      </a:rPr>
                      <m:t>≠0</m:t>
                    </m:r>
                  </m:oMath>
                </a14:m>
                <a:r>
                  <a:rPr lang="en-US" sz="2000" kern="0" dirty="0">
                    <a:solidFill>
                      <a:sysClr val="windowText" lastClr="000000"/>
                    </a:solidFill>
                  </a:rPr>
                  <a:t> and </a:t>
                </a:r>
                <a14:m>
                  <m:oMath xmlns:m="http://schemas.openxmlformats.org/officeDocument/2006/math">
                    <m:r>
                      <m:rPr>
                        <m:sty m:val="p"/>
                      </m:rPr>
                      <a:rPr lang="es-ES" sz="2000" i="1">
                        <a:latin typeface="Cambria Math" panose="02040503050406030204" pitchFamily="18" charset="0"/>
                      </a:rPr>
                      <m:t>γ</m:t>
                    </m:r>
                    <m:r>
                      <a:rPr lang="es-ES" sz="2000" i="1">
                        <a:latin typeface="Cambria Math" panose="02040503050406030204" pitchFamily="18" charset="0"/>
                        <a:ea typeface="Cambria Math" panose="02040503050406030204" pitchFamily="18" charset="0"/>
                      </a:rPr>
                      <m:t>≠0</m:t>
                    </m:r>
                  </m:oMath>
                </a14:m>
                <a:endParaRPr lang="es-ES" sz="2000" dirty="0"/>
              </a:p>
              <a:p>
                <a:r>
                  <a:rPr lang="en-US" sz="2000" dirty="0"/>
                  <a:t> </a:t>
                </a:r>
              </a:p>
              <a:p>
                <a:pPr algn="just"/>
                <a:endParaRPr lang="en-US" sz="2000" dirty="0"/>
              </a:p>
              <a:p>
                <a:pPr algn="just"/>
                <a:r>
                  <a:rPr lang="en-US" sz="2000" b="1" i="1" dirty="0"/>
                  <a:t>Balanced configuration</a:t>
                </a:r>
              </a:p>
              <a:p>
                <a:pPr algn="just"/>
                <a:endParaRPr lang="en-US" sz="2000" kern="0" dirty="0">
                  <a:solidFill>
                    <a:sysClr val="windowText" lastClr="000000"/>
                  </a:solidFill>
                </a:endParaRPr>
              </a:p>
              <a:p>
                <a:endParaRPr lang="en-US" sz="2000" kern="0" dirty="0">
                  <a:solidFill>
                    <a:sysClr val="windowText" lastClr="000000"/>
                  </a:solidFill>
                </a:endParaRPr>
              </a:p>
            </p:txBody>
          </p:sp>
        </mc:Choice>
        <mc:Fallback>
          <p:sp>
            <p:nvSpPr>
              <p:cNvPr id="4" name="Marcador de texto 2">
                <a:extLst>
                  <a:ext uri="{FF2B5EF4-FFF2-40B4-BE49-F238E27FC236}">
                    <a16:creationId xmlns:a16="http://schemas.microsoft.com/office/drawing/2014/main" id="{AA9E72FF-B948-6B7A-8909-97C6BE95D6FB}"/>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5"/>
                <a:stretch>
                  <a:fillRect l="-607" t="-738"/>
                </a:stretch>
              </a:blipFill>
            </p:spPr>
            <p:txBody>
              <a:bodyPr/>
              <a:lstStyle/>
              <a:p>
                <a:r>
                  <a:rPr lang="es-ES">
                    <a:noFill/>
                  </a:rPr>
                  <a:t> </a:t>
                </a:r>
              </a:p>
            </p:txBody>
          </p:sp>
        </mc:Fallback>
      </mc:AlternateContent>
      <p:sp>
        <p:nvSpPr>
          <p:cNvPr id="2" name="CuadroTexto 1">
            <a:extLst>
              <a:ext uri="{FF2B5EF4-FFF2-40B4-BE49-F238E27FC236}">
                <a16:creationId xmlns:a16="http://schemas.microsoft.com/office/drawing/2014/main" id="{D0F8CF3B-B920-DBFC-F825-0C87B51EADA7}"/>
              </a:ext>
            </a:extLst>
          </p:cNvPr>
          <p:cNvSpPr txBox="1"/>
          <p:nvPr/>
        </p:nvSpPr>
        <p:spPr>
          <a:xfrm>
            <a:off x="608012" y="4504304"/>
            <a:ext cx="11199971" cy="1938992"/>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En un MZI se genera </a:t>
            </a:r>
            <a:r>
              <a:rPr lang="en-US" sz="1200" dirty="0" err="1">
                <a:latin typeface="Arial" panose="020B0604020202020204" pitchFamily="34" charset="0"/>
                <a:cs typeface="Arial" panose="020B0604020202020204" pitchFamily="34" charset="0"/>
              </a:rPr>
              <a:t>periodicidad</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espectral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porque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convierte</a:t>
            </a:r>
            <a:r>
              <a:rPr lang="en-US" sz="1200" dirty="0">
                <a:latin typeface="Arial" panose="020B0604020202020204" pitchFamily="34" charset="0"/>
                <a:cs typeface="Arial" panose="020B0604020202020204" pitchFamily="34" charset="0"/>
              </a:rPr>
              <a:t> un </a:t>
            </a:r>
            <a:r>
              <a:rPr lang="en-US" sz="1200" dirty="0" err="1">
                <a:latin typeface="Arial" panose="020B0604020202020204" pitchFamily="34" charset="0"/>
                <a:cs typeface="Arial" panose="020B0604020202020204" pitchFamily="34" charset="0"/>
              </a:rPr>
              <a:t>retardo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un </a:t>
            </a:r>
            <a:r>
              <a:rPr lang="en-US" sz="1200" dirty="0" err="1">
                <a:latin typeface="Arial" panose="020B0604020202020204" pitchFamily="34" charset="0"/>
                <a:cs typeface="Arial" panose="020B0604020202020204" pitchFamily="34" charset="0"/>
              </a:rPr>
              <a:t>desfase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dependiente</a:t>
            </a:r>
            <a:r>
              <a:rPr lang="en-US" sz="1200" dirty="0">
                <a:latin typeface="Arial" panose="020B0604020202020204" pitchFamily="34" charset="0"/>
                <a:cs typeface="Arial" panose="020B0604020202020204" pitchFamily="34" charset="0"/>
              </a:rPr>
              <a:t> de la longitude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Al </a:t>
            </a:r>
            <a:r>
              <a:rPr lang="en-US" sz="1200" dirty="0" err="1">
                <a:latin typeface="Arial" panose="020B0604020202020204" pitchFamily="34" charset="0"/>
                <a:cs typeface="Arial" panose="020B0604020202020204" pitchFamily="34" charset="0"/>
              </a:rPr>
              <a:t>estar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perfectamente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balanceada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camino e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recorre</a:t>
            </a:r>
            <a:r>
              <a:rPr lang="en-US" sz="1200" dirty="0">
                <a:latin typeface="Arial" panose="020B0604020202020204" pitchFamily="34" charset="0"/>
                <a:cs typeface="Arial" panose="020B0604020202020204" pitchFamily="34" charset="0"/>
              </a:rPr>
              <a:t> es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mismo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lo tanto, </a:t>
            </a:r>
            <a:r>
              <a:rPr lang="en-US" sz="1200" dirty="0" err="1">
                <a:latin typeface="Arial" panose="020B0604020202020204" pitchFamily="34" charset="0"/>
                <a:cs typeface="Arial" panose="020B0604020202020204" pitchFamily="34" charset="0"/>
              </a:rPr>
              <a:t>dará</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misma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respuesta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siempre</a:t>
            </a:r>
            <a:r>
              <a:rPr lang="en-US" sz="1200" dirty="0">
                <a:latin typeface="Arial" panose="020B0604020202020204" pitchFamily="34" charset="0"/>
                <a:cs typeface="Arial" panose="020B0604020202020204" pitchFamily="34" charset="0"/>
              </a:rPr>
              <a:t>. </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Si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brazos</a:t>
            </a:r>
            <a:r>
              <a:rPr lang="en-US" sz="1200" dirty="0">
                <a:latin typeface="Arial" panose="020B0604020202020204" pitchFamily="34" charset="0"/>
                <a:cs typeface="Arial" panose="020B0604020202020204" pitchFamily="34" charset="0"/>
              </a:rPr>
              <a:t> no </a:t>
            </a:r>
            <a:r>
              <a:rPr lang="en-US" sz="1200" dirty="0" err="1">
                <a:latin typeface="Arial" panose="020B0604020202020204" pitchFamily="34" charset="0"/>
                <a:cs typeface="Arial" panose="020B0604020202020204" pitchFamily="34" charset="0"/>
              </a:rPr>
              <a:t>dividieran</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potencia</a:t>
            </a:r>
            <a:r>
              <a:rPr lang="en-US" sz="1200" dirty="0">
                <a:latin typeface="Arial" panose="020B0604020202020204" pitchFamily="34" charset="0"/>
                <a:cs typeface="Arial" panose="020B0604020202020204" pitchFamily="34" charset="0"/>
              </a:rPr>
              <a:t> a la </a:t>
            </a:r>
            <a:r>
              <a:rPr lang="en-US" sz="1200" dirty="0" err="1">
                <a:latin typeface="Arial" panose="020B0604020202020204" pitchFamily="34" charset="0"/>
                <a:cs typeface="Arial" panose="020B0604020202020204" pitchFamily="34" charset="0"/>
              </a:rPr>
              <a:t>mitad</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interferencia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salida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esta</a:t>
            </a:r>
            <a:r>
              <a:rPr lang="en-US" sz="1200" dirty="0">
                <a:latin typeface="Arial" panose="020B0604020202020204" pitchFamily="34" charset="0"/>
                <a:cs typeface="Arial" panose="020B0604020202020204" pitchFamily="34" charset="0"/>
              </a:rPr>
              <a:t> no </a:t>
            </a:r>
            <a:r>
              <a:rPr lang="en-US" sz="1200" dirty="0" err="1">
                <a:latin typeface="Arial" panose="020B0604020202020204" pitchFamily="34" charset="0"/>
                <a:cs typeface="Arial" panose="020B0604020202020204" pitchFamily="34" charset="0"/>
              </a:rPr>
              <a:t>sería</a:t>
            </a:r>
            <a:r>
              <a:rPr lang="en-US" sz="1200" dirty="0">
                <a:latin typeface="Arial" panose="020B0604020202020204" pitchFamily="34" charset="0"/>
                <a:cs typeface="Arial" panose="020B0604020202020204" pitchFamily="34" charset="0"/>
              </a:rPr>
              <a:t> perfecta. Con lo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cuando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tuviese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tener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salida</a:t>
            </a:r>
            <a:r>
              <a:rPr lang="en-US" sz="1200" dirty="0">
                <a:latin typeface="Arial" panose="020B0604020202020204" pitchFamily="34" charset="0"/>
                <a:cs typeface="Arial" panose="020B0604020202020204" pitchFamily="34" charset="0"/>
              </a:rPr>
              <a:t> de 0 </a:t>
            </a:r>
            <a:r>
              <a:rPr lang="en-US" sz="1200" dirty="0" err="1">
                <a:latin typeface="Arial" panose="020B0604020202020204" pitchFamily="34" charset="0"/>
                <a:cs typeface="Arial" panose="020B0604020202020204" pitchFamily="34" charset="0"/>
              </a:rPr>
              <a:t>empiece</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fugar</a:t>
            </a:r>
            <a:r>
              <a:rPr lang="en-US" sz="1200" dirty="0">
                <a:latin typeface="Arial" panose="020B0604020202020204" pitchFamily="34" charset="0"/>
                <a:cs typeface="Arial" panose="020B0604020202020204" pitchFamily="34" charset="0"/>
              </a:rPr>
              <a:t> luz y la de </a:t>
            </a:r>
            <a:r>
              <a:rPr lang="en-US" sz="1200" dirty="0" err="1">
                <a:latin typeface="Arial" panose="020B0604020202020204" pitchFamily="34" charset="0"/>
                <a:cs typeface="Arial" panose="020B0604020202020204" pitchFamily="34" charset="0"/>
              </a:rPr>
              <a:t>transmisión</a:t>
            </a:r>
            <a:r>
              <a:rPr lang="en-US" sz="1200" dirty="0">
                <a:latin typeface="Arial" panose="020B0604020202020204" pitchFamily="34" charset="0"/>
                <a:cs typeface="Arial" panose="020B0604020202020204" pitchFamily="34" charset="0"/>
              </a:rPr>
              <a:t> total </a:t>
            </a:r>
            <a:r>
              <a:rPr lang="en-US" sz="1200" dirty="0" err="1">
                <a:latin typeface="Arial" panose="020B0604020202020204" pitchFamily="34" charset="0"/>
                <a:cs typeface="Arial" panose="020B0604020202020204" pitchFamily="34" charset="0"/>
              </a:rPr>
              <a:t>ya</a:t>
            </a:r>
            <a:r>
              <a:rPr lang="en-US" sz="1200" dirty="0">
                <a:latin typeface="Arial" panose="020B0604020202020204" pitchFamily="34" charset="0"/>
                <a:cs typeface="Arial" panose="020B0604020202020204" pitchFamily="34" charset="0"/>
              </a:rPr>
              <a:t> no </a:t>
            </a:r>
            <a:r>
              <a:rPr lang="en-US" sz="1200" dirty="0" err="1">
                <a:latin typeface="Arial" panose="020B0604020202020204" pitchFamily="34" charset="0"/>
                <a:cs typeface="Arial" panose="020B0604020202020204" pitchFamily="34" charset="0"/>
              </a:rPr>
              <a:t>reciba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100% de </a:t>
            </a:r>
            <a:r>
              <a:rPr lang="en-US" sz="1200" dirty="0" err="1">
                <a:latin typeface="Arial" panose="020B0604020202020204" pitchFamily="34" charset="0"/>
                <a:cs typeface="Arial" panose="020B0604020202020204" pitchFamily="34" charset="0"/>
              </a:rPr>
              <a:t>energía</a:t>
            </a:r>
            <a:r>
              <a:rPr lang="en-US" sz="1200" dirty="0">
                <a:latin typeface="Arial" panose="020B0604020202020204" pitchFamily="34" charset="0"/>
                <a:cs typeface="Arial" panose="020B0604020202020204" pitchFamily="34" charset="0"/>
              </a:rPr>
              <a:t>. </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Con excess loss </a:t>
            </a:r>
            <a:r>
              <a:rPr lang="en-US" sz="1200" dirty="0" err="1">
                <a:latin typeface="Arial" panose="020B0604020202020204" pitchFamily="34" charset="0"/>
                <a:cs typeface="Arial" panose="020B0604020202020204" pitchFamily="34" charset="0"/>
              </a:rPr>
              <a:t>habría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atenuación</a:t>
            </a:r>
            <a:r>
              <a:rPr lang="en-US" sz="1200" dirty="0">
                <a:latin typeface="Arial" panose="020B0604020202020204" pitchFamily="34" charset="0"/>
                <a:cs typeface="Arial" panose="020B0604020202020204" pitchFamily="34" charset="0"/>
              </a:rPr>
              <a:t> global y </a:t>
            </a:r>
            <a:r>
              <a:rPr lang="en-US" sz="1200" dirty="0" err="1">
                <a:latin typeface="Arial" panose="020B0604020202020204" pitchFamily="34" charset="0"/>
                <a:cs typeface="Arial" panose="020B0604020202020204" pitchFamily="34" charset="0"/>
              </a:rPr>
              <a:t>constante</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respuesta</a:t>
            </a:r>
            <a:r>
              <a:rPr lang="en-US" sz="1200" dirty="0">
                <a:latin typeface="Arial" panose="020B0604020202020204" pitchFamily="34" charset="0"/>
                <a:cs typeface="Arial" panose="020B0604020202020204" pitchFamily="34" charset="0"/>
              </a:rPr>
              <a:t> spectral </a:t>
            </a:r>
            <a:r>
              <a:rPr lang="en-US" sz="1200" dirty="0" err="1">
                <a:latin typeface="Arial" panose="020B0604020202020204" pitchFamily="34" charset="0"/>
                <a:cs typeface="Arial" panose="020B0604020202020204" pitchFamily="34" charset="0"/>
              </a:rPr>
              <a:t>seguiría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siendo</a:t>
            </a:r>
            <a:r>
              <a:rPr lang="en-US" sz="1200" dirty="0">
                <a:latin typeface="Arial" panose="020B0604020202020204" pitchFamily="34" charset="0"/>
                <a:cs typeface="Arial" panose="020B0604020202020204" pitchFamily="34" charset="0"/>
              </a:rPr>
              <a:t> plana </a:t>
            </a:r>
            <a:r>
              <a:rPr lang="en-US" sz="1200" dirty="0" err="1">
                <a:latin typeface="Arial" panose="020B0604020202020204" pitchFamily="34" charset="0"/>
                <a:cs typeface="Arial" panose="020B0604020202020204" pitchFamily="34" charset="0"/>
              </a:rPr>
              <a:t>pero</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potencia</a:t>
            </a:r>
            <a:r>
              <a:rPr lang="en-US" sz="1200" dirty="0">
                <a:latin typeface="Arial" panose="020B0604020202020204" pitchFamily="34" charset="0"/>
                <a:cs typeface="Arial" panose="020B0604020202020204" pitchFamily="34" charset="0"/>
              </a:rPr>
              <a:t> total </a:t>
            </a:r>
            <a:r>
              <a:rPr lang="en-US" sz="1200" dirty="0" err="1">
                <a:latin typeface="Arial" panose="020B0604020202020204" pitchFamily="34" charset="0"/>
                <a:cs typeface="Arial" panose="020B0604020202020204" pitchFamily="34" charset="0"/>
              </a:rPr>
              <a:t>habría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decaído</a:t>
            </a:r>
            <a:r>
              <a:rPr lang="en-US" sz="1200" dirty="0">
                <a:latin typeface="Arial" panose="020B0604020202020204" pitchFamily="34" charset="0"/>
                <a:cs typeface="Arial" panose="020B0604020202020204" pitchFamily="34" charset="0"/>
              </a:rPr>
              <a:t> de forma </a:t>
            </a:r>
            <a:r>
              <a:rPr lang="en-US" sz="1200" dirty="0" err="1">
                <a:latin typeface="Arial" panose="020B0604020202020204" pitchFamily="34" charset="0"/>
                <a:cs typeface="Arial" panose="020B0604020202020204" pitchFamily="34" charset="0"/>
              </a:rPr>
              <a:t>proporcional</a:t>
            </a:r>
            <a:r>
              <a:rPr lang="en-US" sz="1200" dirty="0">
                <a:latin typeface="Arial" panose="020B0604020202020204" pitchFamily="34" charset="0"/>
                <a:cs typeface="Arial" panose="020B0604020202020204" pitchFamily="34" charset="0"/>
              </a:rPr>
              <a:t> a las </a:t>
            </a:r>
            <a:r>
              <a:rPr lang="en-US" sz="1200" dirty="0" err="1">
                <a:latin typeface="Arial" panose="020B0604020202020204" pitchFamily="34" charset="0"/>
                <a:cs typeface="Arial" panose="020B0604020202020204" pitchFamily="34" charset="0"/>
              </a:rPr>
              <a:t>pérdidas</a:t>
            </a:r>
            <a:r>
              <a:rPr lang="en-US" sz="1200" dirty="0">
                <a:latin typeface="Arial" panose="020B0604020202020204" pitchFamily="34" charset="0"/>
                <a:cs typeface="Arial" panose="020B0604020202020204" pitchFamily="34" charset="0"/>
              </a:rPr>
              <a:t>.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5" name="Marcador de pie de página 2">
            <a:extLst>
              <a:ext uri="{FF2B5EF4-FFF2-40B4-BE49-F238E27FC236}">
                <a16:creationId xmlns:a16="http://schemas.microsoft.com/office/drawing/2014/main" id="{14E1523F-57E7-BC79-8739-6F62FB1C8B3D}"/>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pic>
        <p:nvPicPr>
          <p:cNvPr id="7" name="Imagen 6">
            <a:extLst>
              <a:ext uri="{FF2B5EF4-FFF2-40B4-BE49-F238E27FC236}">
                <a16:creationId xmlns:a16="http://schemas.microsoft.com/office/drawing/2014/main" id="{F6EC771E-ECAE-FD50-0923-AEDBCFC48748}"/>
              </a:ext>
            </a:extLst>
          </p:cNvPr>
          <p:cNvPicPr>
            <a:picLocks noChangeAspect="1"/>
          </p:cNvPicPr>
          <p:nvPr/>
        </p:nvPicPr>
        <p:blipFill>
          <a:blip r:embed="rId6"/>
          <a:stretch>
            <a:fillRect/>
          </a:stretch>
        </p:blipFill>
        <p:spPr>
          <a:xfrm>
            <a:off x="7340349" y="1997666"/>
            <a:ext cx="3402918" cy="2314575"/>
          </a:xfrm>
          <a:prstGeom prst="rect">
            <a:avLst/>
          </a:prstGeom>
        </p:spPr>
      </p:pic>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63E105-3B76-357D-50FF-B118AEB72B8A}"/>
              </a:ext>
            </a:extLst>
          </p:cNvPr>
          <p:cNvSpPr>
            <a:spLocks noGrp="1"/>
          </p:cNvSpPr>
          <p:nvPr>
            <p:ph type="title"/>
          </p:nvPr>
        </p:nvSpPr>
        <p:spPr/>
        <p:txBody>
          <a:bodyPr/>
          <a:lstStyle/>
          <a:p>
            <a:r>
              <a:rPr lang="es-ES" dirty="0" err="1"/>
              <a:t>Unbalanced</a:t>
            </a:r>
            <a:r>
              <a:rPr lang="es-ES" dirty="0"/>
              <a:t>: </a:t>
            </a:r>
            <a:r>
              <a:rPr lang="es-ES" dirty="0" err="1"/>
              <a:t>Phase</a:t>
            </a:r>
            <a:r>
              <a:rPr lang="es-ES" dirty="0"/>
              <a:t> </a:t>
            </a:r>
            <a:r>
              <a:rPr lang="es-ES" dirty="0" err="1"/>
              <a:t>difference</a:t>
            </a:r>
            <a:endParaRPr lang="es-ES" dirty="0"/>
          </a:p>
        </p:txBody>
      </p:sp>
      <p:sp>
        <p:nvSpPr>
          <p:cNvPr id="3" name="Marcador de texto 2">
            <a:extLst>
              <a:ext uri="{FF2B5EF4-FFF2-40B4-BE49-F238E27FC236}">
                <a16:creationId xmlns:a16="http://schemas.microsoft.com/office/drawing/2014/main" id="{9FEDF532-B3FB-147A-EC90-146191C98F8C}"/>
              </a:ext>
            </a:extLst>
          </p:cNvPr>
          <p:cNvSpPr>
            <a:spLocks noGrp="1"/>
          </p:cNvSpPr>
          <p:nvPr>
            <p:ph type="body" idx="1"/>
          </p:nvPr>
        </p:nvSpPr>
        <p:spPr>
          <a:xfrm>
            <a:off x="609600" y="1510438"/>
            <a:ext cx="4267200" cy="4154984"/>
          </a:xfrm>
        </p:spPr>
        <p:txBody>
          <a:bodyPr/>
          <a:lstStyle/>
          <a:p>
            <a:r>
              <a:rPr lang="es-ES" dirty="0"/>
              <a:t>La diferencia de fase se genera debido a una asimetría en el índice de difracción de las guías de onda. Recorre la misma distancia pero a velocidades distintas. </a:t>
            </a:r>
          </a:p>
          <a:p>
            <a:endParaRPr lang="es-ES" dirty="0"/>
          </a:p>
          <a:p>
            <a:r>
              <a:rPr lang="es-ES" dirty="0"/>
              <a:t>Hay complementariedad porque no hemos introducido pérdidas y se conserva toda la energía. </a:t>
            </a:r>
          </a:p>
          <a:p>
            <a:endParaRPr lang="es-ES" dirty="0"/>
          </a:p>
          <a:p>
            <a:r>
              <a:rPr lang="es-ES" dirty="0"/>
              <a:t>El MZI actúa como </a:t>
            </a:r>
            <a:r>
              <a:rPr lang="es-ES" dirty="0" err="1"/>
              <a:t>tunable</a:t>
            </a:r>
            <a:r>
              <a:rPr lang="es-ES" dirty="0"/>
              <a:t>  </a:t>
            </a:r>
            <a:r>
              <a:rPr lang="es-ES" dirty="0" err="1"/>
              <a:t>power</a:t>
            </a:r>
            <a:r>
              <a:rPr lang="es-ES" dirty="0"/>
              <a:t> </a:t>
            </a:r>
            <a:r>
              <a:rPr lang="es-ES" dirty="0" err="1"/>
              <a:t>coupler</a:t>
            </a:r>
            <a:r>
              <a:rPr lang="es-ES" dirty="0"/>
              <a:t> cuando fijamos una longitud de onda constante y vamos variando la diferencia de fase, generalmente cambiando el índice efectivo con un electrodo de calor o voltaje.</a:t>
            </a:r>
          </a:p>
          <a:p>
            <a:endParaRPr lang="es-ES" dirty="0"/>
          </a:p>
        </p:txBody>
      </p:sp>
      <p:sp>
        <p:nvSpPr>
          <p:cNvPr id="4" name="Marcador de pie de página 3">
            <a:extLst>
              <a:ext uri="{FF2B5EF4-FFF2-40B4-BE49-F238E27FC236}">
                <a16:creationId xmlns:a16="http://schemas.microsoft.com/office/drawing/2014/main" id="{4BEF192D-7245-FAB5-FD55-4CE0E4AE397A}"/>
              </a:ext>
            </a:extLst>
          </p:cNvPr>
          <p:cNvSpPr>
            <a:spLocks noGrp="1"/>
          </p:cNvSpPr>
          <p:nvPr>
            <p:ph type="ftr" sz="quarter" idx="5"/>
          </p:nvPr>
        </p:nvSpPr>
        <p:spPr/>
        <p:txBody>
          <a:bodyPr/>
          <a:lstStyle/>
          <a:p>
            <a:pPr marL="12700">
              <a:spcBef>
                <a:spcPts val="15"/>
              </a:spcBef>
            </a:pPr>
            <a:r>
              <a:rPr lang="es-ES" spc="-5"/>
              <a:t>LAB 3. INTERFEROMETERS I</a:t>
            </a:r>
            <a:endParaRPr lang="es-ES" spc="-5" dirty="0"/>
          </a:p>
        </p:txBody>
      </p:sp>
      <p:sp>
        <p:nvSpPr>
          <p:cNvPr id="5" name="Marcador de número de diapositiva 4">
            <a:extLst>
              <a:ext uri="{FF2B5EF4-FFF2-40B4-BE49-F238E27FC236}">
                <a16:creationId xmlns:a16="http://schemas.microsoft.com/office/drawing/2014/main" id="{9CD52061-BEC7-9AB6-375E-E2E3F055C97C}"/>
              </a:ext>
            </a:extLst>
          </p:cNvPr>
          <p:cNvSpPr>
            <a:spLocks noGrp="1"/>
          </p:cNvSpPr>
          <p:nvPr>
            <p:ph type="sldNum" sz="quarter" idx="7"/>
          </p:nvPr>
        </p:nvSpPr>
        <p:spPr/>
        <p:txBody>
          <a:bodyPr/>
          <a:lstStyle/>
          <a:p>
            <a:fld id="{B6F15528-21DE-4FAA-801E-634DDDAF4B2B}" type="slidenum">
              <a:rPr lang="es-ES" smtClean="0"/>
              <a:t>4</a:t>
            </a:fld>
            <a:endParaRPr lang="es-ES"/>
          </a:p>
        </p:txBody>
      </p:sp>
      <p:pic>
        <p:nvPicPr>
          <p:cNvPr id="9" name="Imagen 8">
            <a:extLst>
              <a:ext uri="{FF2B5EF4-FFF2-40B4-BE49-F238E27FC236}">
                <a16:creationId xmlns:a16="http://schemas.microsoft.com/office/drawing/2014/main" id="{0D200F5E-0F16-A214-46D0-7FF723CEB040}"/>
              </a:ext>
            </a:extLst>
          </p:cNvPr>
          <p:cNvPicPr>
            <a:picLocks noChangeAspect="1"/>
          </p:cNvPicPr>
          <p:nvPr/>
        </p:nvPicPr>
        <p:blipFill>
          <a:blip r:embed="rId2"/>
          <a:stretch>
            <a:fillRect/>
          </a:stretch>
        </p:blipFill>
        <p:spPr>
          <a:xfrm>
            <a:off x="5943600" y="1750826"/>
            <a:ext cx="5172075" cy="3356347"/>
          </a:xfrm>
          <a:prstGeom prst="rect">
            <a:avLst/>
          </a:prstGeom>
        </p:spPr>
      </p:pic>
    </p:spTree>
    <p:extLst>
      <p:ext uri="{BB962C8B-B14F-4D97-AF65-F5344CB8AC3E}">
        <p14:creationId xmlns:p14="http://schemas.microsoft.com/office/powerpoint/2010/main" val="1157574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82B28A-20B6-BD5F-6609-4AF47D981BC0}"/>
              </a:ext>
            </a:extLst>
          </p:cNvPr>
          <p:cNvSpPr>
            <a:spLocks noGrp="1"/>
          </p:cNvSpPr>
          <p:nvPr>
            <p:ph type="title"/>
          </p:nvPr>
        </p:nvSpPr>
        <p:spPr/>
        <p:txBody>
          <a:bodyPr/>
          <a:lstStyle/>
          <a:p>
            <a:r>
              <a:rPr lang="es-ES" dirty="0" err="1"/>
              <a:t>Delay</a:t>
            </a:r>
            <a:r>
              <a:rPr lang="es-ES" dirty="0"/>
              <a:t> </a:t>
            </a:r>
            <a:r>
              <a:rPr lang="es-ES" dirty="0" err="1"/>
              <a:t>imbalance</a:t>
            </a:r>
            <a:endParaRPr lang="es-ES" dirty="0"/>
          </a:p>
        </p:txBody>
      </p:sp>
      <p:sp>
        <p:nvSpPr>
          <p:cNvPr id="3" name="Marcador de texto 2">
            <a:extLst>
              <a:ext uri="{FF2B5EF4-FFF2-40B4-BE49-F238E27FC236}">
                <a16:creationId xmlns:a16="http://schemas.microsoft.com/office/drawing/2014/main" id="{20C7B66D-8630-D134-B9CC-B7C2F63E2943}"/>
              </a:ext>
            </a:extLst>
          </p:cNvPr>
          <p:cNvSpPr>
            <a:spLocks noGrp="1"/>
          </p:cNvSpPr>
          <p:nvPr>
            <p:ph type="body" idx="1"/>
          </p:nvPr>
        </p:nvSpPr>
        <p:spPr>
          <a:xfrm>
            <a:off x="590550" y="1219200"/>
            <a:ext cx="5505450" cy="3600986"/>
          </a:xfrm>
        </p:spPr>
        <p:txBody>
          <a:bodyPr/>
          <a:lstStyle/>
          <a:p>
            <a:r>
              <a:rPr lang="es-ES" dirty="0"/>
              <a:t>Cuando el </a:t>
            </a:r>
            <a:r>
              <a:rPr lang="es-ES" dirty="0" err="1"/>
              <a:t>DeltaL</a:t>
            </a:r>
            <a:r>
              <a:rPr lang="es-ES" dirty="0"/>
              <a:t> es muy grande, la luz que viaja por el brazo más largo acumula más retraso, por lo que una variación pequeña en la longitud de onda provoca un cambio rápido en la diferencia de fase. Este cambio de fase es muy rápido por lo que nos da un espectro con picos muy juntos.</a:t>
            </a:r>
          </a:p>
          <a:p>
            <a:endParaRPr lang="es-ES" dirty="0"/>
          </a:p>
          <a:p>
            <a:r>
              <a:rPr lang="es-ES" dirty="0"/>
              <a:t>En guías de SOI el </a:t>
            </a:r>
            <a:r>
              <a:rPr lang="es-ES" dirty="0" err="1"/>
              <a:t>neff</a:t>
            </a:r>
            <a:r>
              <a:rPr lang="es-ES" dirty="0"/>
              <a:t> cambia con la longitud de onda. Como la velocidad de fase depende del índice cambiante el interferómetro no oscila a un ritmo constante. </a:t>
            </a:r>
          </a:p>
          <a:p>
            <a:endParaRPr lang="es-ES" dirty="0"/>
          </a:p>
          <a:p>
            <a:r>
              <a:rPr lang="es-ES" dirty="0"/>
              <a:t>El índice de grupo nos dice la velocidad a la que viaja la envolvente de la señal </a:t>
            </a:r>
          </a:p>
        </p:txBody>
      </p:sp>
      <p:sp>
        <p:nvSpPr>
          <p:cNvPr id="4" name="Marcador de pie de página 3">
            <a:extLst>
              <a:ext uri="{FF2B5EF4-FFF2-40B4-BE49-F238E27FC236}">
                <a16:creationId xmlns:a16="http://schemas.microsoft.com/office/drawing/2014/main" id="{07B08120-D47F-F3F3-EED1-640DDCD52272}"/>
              </a:ext>
            </a:extLst>
          </p:cNvPr>
          <p:cNvSpPr>
            <a:spLocks noGrp="1"/>
          </p:cNvSpPr>
          <p:nvPr>
            <p:ph type="ftr" sz="quarter" idx="5"/>
          </p:nvPr>
        </p:nvSpPr>
        <p:spPr/>
        <p:txBody>
          <a:bodyPr/>
          <a:lstStyle/>
          <a:p>
            <a:pPr marL="12700">
              <a:spcBef>
                <a:spcPts val="15"/>
              </a:spcBef>
            </a:pPr>
            <a:r>
              <a:rPr lang="es-ES" spc="-5"/>
              <a:t>LAB 3. INTERFEROMETERS I</a:t>
            </a:r>
            <a:endParaRPr lang="es-ES" spc="-5" dirty="0"/>
          </a:p>
        </p:txBody>
      </p:sp>
      <p:sp>
        <p:nvSpPr>
          <p:cNvPr id="5" name="Marcador de número de diapositiva 4">
            <a:extLst>
              <a:ext uri="{FF2B5EF4-FFF2-40B4-BE49-F238E27FC236}">
                <a16:creationId xmlns:a16="http://schemas.microsoft.com/office/drawing/2014/main" id="{48C742C0-AC27-05BE-1ECC-650A5C6FA2C0}"/>
              </a:ext>
            </a:extLst>
          </p:cNvPr>
          <p:cNvSpPr>
            <a:spLocks noGrp="1"/>
          </p:cNvSpPr>
          <p:nvPr>
            <p:ph type="sldNum" sz="quarter" idx="7"/>
          </p:nvPr>
        </p:nvSpPr>
        <p:spPr/>
        <p:txBody>
          <a:bodyPr/>
          <a:lstStyle/>
          <a:p>
            <a:fld id="{B6F15528-21DE-4FAA-801E-634DDDAF4B2B}" type="slidenum">
              <a:rPr lang="es-ES" smtClean="0"/>
              <a:t>5</a:t>
            </a:fld>
            <a:endParaRPr lang="es-ES"/>
          </a:p>
        </p:txBody>
      </p:sp>
      <p:pic>
        <p:nvPicPr>
          <p:cNvPr id="7" name="Imagen 6">
            <a:extLst>
              <a:ext uri="{FF2B5EF4-FFF2-40B4-BE49-F238E27FC236}">
                <a16:creationId xmlns:a16="http://schemas.microsoft.com/office/drawing/2014/main" id="{421F0C35-9E78-1AFF-624F-63474BA51297}"/>
              </a:ext>
            </a:extLst>
          </p:cNvPr>
          <p:cNvPicPr>
            <a:picLocks noChangeAspect="1"/>
          </p:cNvPicPr>
          <p:nvPr/>
        </p:nvPicPr>
        <p:blipFill>
          <a:blip r:embed="rId2"/>
          <a:stretch>
            <a:fillRect/>
          </a:stretch>
        </p:blipFill>
        <p:spPr>
          <a:xfrm>
            <a:off x="6248400" y="1493543"/>
            <a:ext cx="5629275" cy="3653040"/>
          </a:xfrm>
          <a:prstGeom prst="rect">
            <a:avLst/>
          </a:prstGeom>
        </p:spPr>
      </p:pic>
    </p:spTree>
    <p:extLst>
      <p:ext uri="{BB962C8B-B14F-4D97-AF65-F5344CB8AC3E}">
        <p14:creationId xmlns:p14="http://schemas.microsoft.com/office/powerpoint/2010/main" val="21206205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191330-FFA6-77F1-80D5-C733B1CECEA7}"/>
              </a:ext>
            </a:extLst>
          </p:cNvPr>
          <p:cNvSpPr>
            <a:spLocks noGrp="1"/>
          </p:cNvSpPr>
          <p:nvPr>
            <p:ph type="title"/>
          </p:nvPr>
        </p:nvSpPr>
        <p:spPr/>
        <p:txBody>
          <a:bodyPr/>
          <a:lstStyle/>
          <a:p>
            <a:r>
              <a:rPr lang="es-ES" dirty="0" err="1"/>
              <a:t>Amplitude</a:t>
            </a:r>
            <a:r>
              <a:rPr lang="es-ES" dirty="0"/>
              <a:t> </a:t>
            </a:r>
            <a:r>
              <a:rPr lang="es-ES" dirty="0" err="1"/>
              <a:t>imbalance</a:t>
            </a:r>
            <a:endParaRPr lang="es-ES" dirty="0"/>
          </a:p>
        </p:txBody>
      </p:sp>
      <p:sp>
        <p:nvSpPr>
          <p:cNvPr id="3" name="Marcador de texto 2">
            <a:extLst>
              <a:ext uri="{FF2B5EF4-FFF2-40B4-BE49-F238E27FC236}">
                <a16:creationId xmlns:a16="http://schemas.microsoft.com/office/drawing/2014/main" id="{38E203FB-E6F1-68B0-1252-0D3D2EFCFCA4}"/>
              </a:ext>
            </a:extLst>
          </p:cNvPr>
          <p:cNvSpPr>
            <a:spLocks noGrp="1"/>
          </p:cNvSpPr>
          <p:nvPr>
            <p:ph type="body" idx="1"/>
          </p:nvPr>
        </p:nvSpPr>
        <p:spPr>
          <a:xfrm>
            <a:off x="590550" y="1295400"/>
            <a:ext cx="5353050" cy="3323987"/>
          </a:xfrm>
        </p:spPr>
        <p:txBody>
          <a:bodyPr/>
          <a:lstStyle/>
          <a:p>
            <a:r>
              <a:rPr lang="es-ES" dirty="0"/>
              <a:t>Para lograr un valle perfecto, se requiere que la interferencia destructiva sea total. Esto solo es posible si tienen la misma amplitud y las dos ondas desfasadas pi. Si no dividiesen de forma simétrica quedaría potencia residual en el brazo que debería tener salida nula y esto degradaría el ER.</a:t>
            </a:r>
          </a:p>
          <a:p>
            <a:endParaRPr lang="es-ES" dirty="0"/>
          </a:p>
          <a:p>
            <a:r>
              <a:rPr lang="es-ES" dirty="0"/>
              <a:t>La condición que maximiza el rechazo es Ka= 1-Kb.</a:t>
            </a:r>
          </a:p>
          <a:p>
            <a:endParaRPr lang="es-ES" dirty="0"/>
          </a:p>
          <a:p>
            <a:r>
              <a:rPr lang="es-ES" dirty="0"/>
              <a:t>Habría que diseñar un acoplador de entrada asimétrico inyectando más potencia por el brazo con mayores pérdidas.</a:t>
            </a:r>
          </a:p>
        </p:txBody>
      </p:sp>
      <p:sp>
        <p:nvSpPr>
          <p:cNvPr id="4" name="Marcador de pie de página 3">
            <a:extLst>
              <a:ext uri="{FF2B5EF4-FFF2-40B4-BE49-F238E27FC236}">
                <a16:creationId xmlns:a16="http://schemas.microsoft.com/office/drawing/2014/main" id="{F7A207E3-112F-4931-3159-A4CB8EE11B91}"/>
              </a:ext>
            </a:extLst>
          </p:cNvPr>
          <p:cNvSpPr>
            <a:spLocks noGrp="1"/>
          </p:cNvSpPr>
          <p:nvPr>
            <p:ph type="ftr" sz="quarter" idx="5"/>
          </p:nvPr>
        </p:nvSpPr>
        <p:spPr/>
        <p:txBody>
          <a:bodyPr/>
          <a:lstStyle/>
          <a:p>
            <a:pPr marL="12700">
              <a:spcBef>
                <a:spcPts val="15"/>
              </a:spcBef>
            </a:pPr>
            <a:r>
              <a:rPr lang="es-ES" spc="-5"/>
              <a:t>LAB 3. INTERFEROMETERS I</a:t>
            </a:r>
            <a:endParaRPr lang="es-ES" spc="-5" dirty="0"/>
          </a:p>
        </p:txBody>
      </p:sp>
      <p:sp>
        <p:nvSpPr>
          <p:cNvPr id="5" name="Marcador de número de diapositiva 4">
            <a:extLst>
              <a:ext uri="{FF2B5EF4-FFF2-40B4-BE49-F238E27FC236}">
                <a16:creationId xmlns:a16="http://schemas.microsoft.com/office/drawing/2014/main" id="{B3D26ECC-8C55-693A-582D-8BFA6F5CBB6F}"/>
              </a:ext>
            </a:extLst>
          </p:cNvPr>
          <p:cNvSpPr>
            <a:spLocks noGrp="1"/>
          </p:cNvSpPr>
          <p:nvPr>
            <p:ph type="sldNum" sz="quarter" idx="7"/>
          </p:nvPr>
        </p:nvSpPr>
        <p:spPr/>
        <p:txBody>
          <a:bodyPr/>
          <a:lstStyle/>
          <a:p>
            <a:fld id="{B6F15528-21DE-4FAA-801E-634DDDAF4B2B}" type="slidenum">
              <a:rPr lang="es-ES" smtClean="0"/>
              <a:t>6</a:t>
            </a:fld>
            <a:endParaRPr lang="es-ES"/>
          </a:p>
        </p:txBody>
      </p:sp>
      <p:pic>
        <p:nvPicPr>
          <p:cNvPr id="7" name="Imagen 6">
            <a:extLst>
              <a:ext uri="{FF2B5EF4-FFF2-40B4-BE49-F238E27FC236}">
                <a16:creationId xmlns:a16="http://schemas.microsoft.com/office/drawing/2014/main" id="{A9A109CE-1225-B8CA-E2EC-FC95637BE29A}"/>
              </a:ext>
            </a:extLst>
          </p:cNvPr>
          <p:cNvPicPr>
            <a:picLocks noChangeAspect="1"/>
          </p:cNvPicPr>
          <p:nvPr/>
        </p:nvPicPr>
        <p:blipFill>
          <a:blip r:embed="rId2"/>
          <a:stretch>
            <a:fillRect/>
          </a:stretch>
        </p:blipFill>
        <p:spPr>
          <a:xfrm>
            <a:off x="6839902" y="1524000"/>
            <a:ext cx="4943475" cy="3208000"/>
          </a:xfrm>
          <a:prstGeom prst="rect">
            <a:avLst/>
          </a:prstGeom>
        </p:spPr>
      </p:pic>
    </p:spTree>
    <p:extLst>
      <p:ext uri="{BB962C8B-B14F-4D97-AF65-F5344CB8AC3E}">
        <p14:creationId xmlns:p14="http://schemas.microsoft.com/office/powerpoint/2010/main" val="20685020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5AB88-A787-2C84-3A44-2B634D87FB5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object 16">
                <a:extLst>
                  <a:ext uri="{FF2B5EF4-FFF2-40B4-BE49-F238E27FC236}">
                    <a16:creationId xmlns:a16="http://schemas.microsoft.com/office/drawing/2014/main" id="{A153D08B-B860-A163-3940-83AD64444D0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t>ASSESSMENT #2 </a:t>
                </a:r>
                <a:r>
                  <a:rPr lang="en-US" sz="2500" dirty="0"/>
                  <a:t>– Recap from theory – Calculation of </a:t>
                </a:r>
                <a14:m>
                  <m:oMath xmlns:m="http://schemas.openxmlformats.org/officeDocument/2006/math">
                    <m:r>
                      <a:rPr lang="es-ES" sz="2500" b="1" i="0" smtClean="0">
                        <a:latin typeface="Cambria Math" panose="02040503050406030204" pitchFamily="18" charset="0"/>
                      </a:rPr>
                      <m:t>𝚫</m:t>
                    </m:r>
                    <m:r>
                      <a:rPr lang="es-ES" sz="2500" b="1" i="0" smtClean="0">
                        <a:latin typeface="Cambria Math" panose="02040503050406030204" pitchFamily="18" charset="0"/>
                      </a:rPr>
                      <m:t>𝐋</m:t>
                    </m:r>
                  </m:oMath>
                </a14:m>
                <a:r>
                  <a:rPr lang="es-ES" sz="2500" spc="-5" dirty="0">
                    <a:latin typeface="+mj-lt"/>
                    <a:cs typeface="Lucida Sans"/>
                  </a:rPr>
                  <a:t> </a:t>
                </a:r>
                <a:br>
                  <a:rPr lang="es-ES" sz="2500" spc="-5" dirty="0">
                    <a:latin typeface="+mj-lt"/>
                    <a:cs typeface="Lucida Sans"/>
                  </a:rPr>
                </a:br>
                <a:endParaRPr sz="2500" b="0" dirty="0">
                  <a:latin typeface="+mj-lt"/>
                  <a:cs typeface="Lucida Sans"/>
                </a:endParaRPr>
              </a:p>
            </p:txBody>
          </p:sp>
        </mc:Choice>
        <mc:Fallback xmlns="">
          <p:sp>
            <p:nvSpPr>
              <p:cNvPr id="16" name="object 16">
                <a:extLst>
                  <a:ext uri="{FF2B5EF4-FFF2-40B4-BE49-F238E27FC236}">
                    <a16:creationId xmlns:a16="http://schemas.microsoft.com/office/drawing/2014/main" id="{A153D08B-B860-A163-3940-83AD64444D01}"/>
                  </a:ext>
                </a:extLst>
              </p:cNvPr>
              <p:cNvSpPr txBox="1">
                <a:spLocks noGrp="1" noRot="1" noChangeAspect="1" noMove="1" noResize="1" noEditPoints="1" noAdjustHandles="1" noChangeArrowheads="1" noChangeShapeType="1" noTextEdit="1"/>
              </p:cNvSpPr>
              <p:nvPr>
                <p:ph type="title"/>
              </p:nvPr>
            </p:nvSpPr>
            <p:spPr>
              <a:xfrm>
                <a:off x="685800" y="408883"/>
                <a:ext cx="10994410" cy="782265"/>
              </a:xfrm>
              <a:prstGeom prst="rect">
                <a:avLst/>
              </a:prstGeom>
              <a:blipFill>
                <a:blip r:embed="rId3"/>
                <a:stretch>
                  <a:fillRect l="-1608" t="-10156"/>
                </a:stretch>
              </a:blipFill>
            </p:spPr>
            <p:txBody>
              <a:bodyPr/>
              <a:lstStyle/>
              <a:p>
                <a:r>
                  <a:rPr lang="es-ES">
                    <a:noFill/>
                  </a:rPr>
                  <a:t> </a:t>
                </a:r>
              </a:p>
            </p:txBody>
          </p:sp>
        </mc:Fallback>
      </mc:AlternateContent>
      <p:pic>
        <p:nvPicPr>
          <p:cNvPr id="83" name="Gráfico 82">
            <a:extLst>
              <a:ext uri="{FF2B5EF4-FFF2-40B4-BE49-F238E27FC236}">
                <a16:creationId xmlns:a16="http://schemas.microsoft.com/office/drawing/2014/main" id="{333888A9-82BA-4688-F856-37AB661A7D4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1891475-ED60-D0D2-1AD0-4F80E3D89439}"/>
              </a:ext>
            </a:extLst>
          </p:cNvPr>
          <p:cNvSpPr>
            <a:spLocks noGrp="1"/>
          </p:cNvSpPr>
          <p:nvPr>
            <p:ph type="sldNum" sz="quarter" idx="7"/>
          </p:nvPr>
        </p:nvSpPr>
        <p:spPr/>
        <p:txBody>
          <a:bodyPr/>
          <a:lstStyle/>
          <a:p>
            <a:fld id="{B6F15528-21DE-4FAA-801E-634DDDAF4B2B}" type="slidenum">
              <a:rPr lang="es-ES" smtClean="0"/>
              <a:t>7</a:t>
            </a:fld>
            <a:endParaRPr lang="es-ES"/>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BBBE28D8-49EC-3B49-29AC-FD2FDAF3B0AF}"/>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000" dirty="0"/>
                  <a:t>Considering the n_{eff} values for the SOI cross-section, what would be the path difference (</a:t>
                </a:r>
                <a14:m>
                  <m:oMath xmlns:m="http://schemas.openxmlformats.org/officeDocument/2006/math">
                    <m:r>
                      <m:rPr>
                        <m:sty m:val="p"/>
                      </m:rPr>
                      <a:rPr lang="es-ES" sz="2000" b="0" i="0" smtClean="0">
                        <a:latin typeface="Cambria Math" panose="02040503050406030204" pitchFamily="18" charset="0"/>
                      </a:rPr>
                      <m:t>ΔL</m:t>
                    </m:r>
                    <m:r>
                      <a:rPr lang="es-ES" sz="2000" b="0" i="1" smtClean="0">
                        <a:latin typeface="Cambria Math" panose="02040503050406030204" pitchFamily="18" charset="0"/>
                      </a:rPr>
                      <m:t>= </m:t>
                    </m:r>
                    <m:sSub>
                      <m:sSubPr>
                        <m:ctrlPr>
                          <a:rPr lang="es-ES" sz="2000" i="1" smtClean="0">
                            <a:latin typeface="Cambria Math" panose="02040503050406030204" pitchFamily="18" charset="0"/>
                          </a:rPr>
                        </m:ctrlPr>
                      </m:sSubPr>
                      <m:e>
                        <m:r>
                          <a:rPr lang="es-ES" sz="2000" b="0" i="1" smtClean="0">
                            <a:latin typeface="Cambria Math" panose="02040503050406030204" pitchFamily="18" charset="0"/>
                          </a:rPr>
                          <m:t>𝐿</m:t>
                        </m:r>
                      </m:e>
                      <m:sub>
                        <m:r>
                          <a:rPr lang="es-ES" sz="2000" b="0" i="1" smtClean="0">
                            <a:latin typeface="Cambria Math" panose="02040503050406030204" pitchFamily="18" charset="0"/>
                          </a:rPr>
                          <m:t>𝑢</m:t>
                        </m:r>
                      </m:sub>
                    </m:sSub>
                    <m:r>
                      <a:rPr lang="es-ES" sz="2000" b="0" i="1" smtClean="0">
                        <a:latin typeface="Cambria Math" panose="02040503050406030204" pitchFamily="18" charset="0"/>
                      </a:rPr>
                      <m:t> −</m:t>
                    </m:r>
                    <m:sSub>
                      <m:sSubPr>
                        <m:ctrlPr>
                          <a:rPr lang="es-ES" sz="2000" i="1">
                            <a:latin typeface="Cambria Math" panose="02040503050406030204" pitchFamily="18" charset="0"/>
                          </a:rPr>
                        </m:ctrlPr>
                      </m:sSubPr>
                      <m:e>
                        <m:r>
                          <a:rPr lang="es-ES" sz="2000" b="0" i="1">
                            <a:latin typeface="Cambria Math" panose="02040503050406030204" pitchFamily="18" charset="0"/>
                          </a:rPr>
                          <m:t>𝐿</m:t>
                        </m:r>
                      </m:e>
                      <m:sub>
                        <m:r>
                          <a:rPr lang="es-ES" sz="2000" b="0" i="1" smtClean="0">
                            <a:latin typeface="Cambria Math" panose="02040503050406030204" pitchFamily="18" charset="0"/>
                          </a:rPr>
                          <m:t>𝑑</m:t>
                        </m:r>
                      </m:sub>
                    </m:sSub>
                  </m:oMath>
                </a14:m>
                <a:r>
                  <a:rPr lang="en-US" sz="2000" dirty="0"/>
                  <a:t>) needed to obtain a Free Spectral Range of 40 nm? Introduce the obtained value in the model to check the MZI response. </a:t>
                </a:r>
              </a:p>
              <a:p>
                <a:endParaRPr lang="en-US" sz="2000" dirty="0"/>
              </a:p>
              <a:p>
                <a:r>
                  <a:rPr lang="en-US" sz="2000" dirty="0"/>
                  <a:t>Hint: We assume 1550 nm as the central design wavelength (</a:t>
                </a:r>
                <a14:m>
                  <m:oMath xmlns:m="http://schemas.openxmlformats.org/officeDocument/2006/math">
                    <m:sSub>
                      <m:sSubPr>
                        <m:ctrlPr>
                          <a:rPr lang="es-ES" sz="2000" i="1" smtClean="0">
                            <a:latin typeface="Cambria Math" panose="02040503050406030204" pitchFamily="18" charset="0"/>
                          </a:rPr>
                        </m:ctrlPr>
                      </m:sSubPr>
                      <m:e>
                        <m:r>
                          <a:rPr lang="es-ES" sz="2000" i="1">
                            <a:latin typeface="Cambria Math" panose="02040503050406030204" pitchFamily="18" charset="0"/>
                          </a:rPr>
                          <m:t>𝜆</m:t>
                        </m:r>
                      </m:e>
                      <m:sub>
                        <m:r>
                          <a:rPr lang="es-ES" sz="2000" b="0" i="1" smtClean="0">
                            <a:latin typeface="Cambria Math" panose="02040503050406030204" pitchFamily="18" charset="0"/>
                          </a:rPr>
                          <m:t>0</m:t>
                        </m:r>
                      </m:sub>
                    </m:sSub>
                    <m:r>
                      <a:rPr lang="es-ES" sz="2000" b="0" i="1" smtClean="0">
                        <a:latin typeface="Cambria Math" panose="02040503050406030204" pitchFamily="18" charset="0"/>
                      </a:rPr>
                      <m:t>= </m:t>
                    </m:r>
                  </m:oMath>
                </a14:m>
                <a:r>
                  <a:rPr lang="en-US" sz="2000" dirty="0"/>
                  <a:t>1550 nm).</a:t>
                </a:r>
              </a:p>
              <a:p>
                <a:endParaRPr lang="en-US" sz="2000" dirty="0"/>
              </a:p>
              <a:p>
                <a:pPr algn="just"/>
                <a:endParaRPr lang="en-US" sz="2000" dirty="0"/>
              </a:p>
              <a:p>
                <a:pPr algn="just"/>
                <a:endParaRPr lang="en-US" sz="2000" b="1" i="1" dirty="0"/>
              </a:p>
              <a:p>
                <a:pPr algn="just"/>
                <a:endParaRPr lang="en-US" sz="2000" kern="0" dirty="0">
                  <a:solidFill>
                    <a:sysClr val="windowText" lastClr="000000"/>
                  </a:solidFill>
                </a:endParaRPr>
              </a:p>
              <a:p>
                <a:endParaRPr lang="en-US" sz="2000" kern="0" dirty="0">
                  <a:solidFill>
                    <a:sysClr val="windowText" lastClr="000000"/>
                  </a:solidFill>
                </a:endParaRPr>
              </a:p>
            </p:txBody>
          </p:sp>
        </mc:Choice>
        <mc:Fallback xmlns="">
          <p:sp>
            <p:nvSpPr>
              <p:cNvPr id="4" name="Marcador de texto 2">
                <a:extLst>
                  <a:ext uri="{FF2B5EF4-FFF2-40B4-BE49-F238E27FC236}">
                    <a16:creationId xmlns:a16="http://schemas.microsoft.com/office/drawing/2014/main" id="{BBBE28D8-49EC-3B49-29AC-FD2FDAF3B0AF}"/>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6"/>
                <a:stretch>
                  <a:fillRect l="-607" t="-738"/>
                </a:stretch>
              </a:blipFill>
            </p:spPr>
            <p:txBody>
              <a:bodyPr/>
              <a:lstStyle/>
              <a:p>
                <a:r>
                  <a:rPr lang="es-ES">
                    <a:noFill/>
                  </a:rPr>
                  <a:t> </a:t>
                </a:r>
              </a:p>
            </p:txBody>
          </p:sp>
        </mc:Fallback>
      </mc:AlternateContent>
      <p:sp>
        <p:nvSpPr>
          <p:cNvPr id="2" name="CuadroTexto 1">
            <a:extLst>
              <a:ext uri="{FF2B5EF4-FFF2-40B4-BE49-F238E27FC236}">
                <a16:creationId xmlns:a16="http://schemas.microsoft.com/office/drawing/2014/main" id="{CFDBBA6B-3646-055F-7A9C-EE01830137BE}"/>
              </a:ext>
            </a:extLst>
          </p:cNvPr>
          <p:cNvSpPr txBox="1"/>
          <p:nvPr/>
        </p:nvSpPr>
        <p:spPr>
          <a:xfrm>
            <a:off x="609441" y="4860334"/>
            <a:ext cx="11199971" cy="1292662"/>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(copy here the code employed to obtain the corresponding value)</a:t>
            </a:r>
          </a:p>
          <a:p>
            <a:pPr algn="just"/>
            <a:endParaRPr lang="en-US" sz="1200" dirty="0">
              <a:latin typeface="Arial" panose="020B0604020202020204" pitchFamily="34" charset="0"/>
              <a:cs typeface="Arial" panose="020B0604020202020204" pitchFamily="34" charset="0"/>
            </a:endParaRPr>
          </a:p>
          <a:p>
            <a:pPr algn="just"/>
            <a:r>
              <a:rPr lang="es-ES" dirty="0"/>
              <a:t>13.9899 µm</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5" name="Marcador de pie de página 2">
            <a:extLst>
              <a:ext uri="{FF2B5EF4-FFF2-40B4-BE49-F238E27FC236}">
                <a16:creationId xmlns:a16="http://schemas.microsoft.com/office/drawing/2014/main" id="{97B81335-0738-3406-18D4-5D88EB0C7954}"/>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spTree>
    <p:extLst>
      <p:ext uri="{BB962C8B-B14F-4D97-AF65-F5344CB8AC3E}">
        <p14:creationId xmlns:p14="http://schemas.microsoft.com/office/powerpoint/2010/main" val="23370981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B9552-DF22-1310-10FA-4D2D2AF77601}"/>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B0632A48-0384-0EF1-389E-FBF3F9C3E7CE}"/>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t>ASSESSMENT #3 </a:t>
            </a:r>
            <a:r>
              <a:rPr lang="en-US" sz="2500" dirty="0"/>
              <a:t>– SAX implementation </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1F43E6A6-5CC3-9B99-14AC-997478150C3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DFC09DB6-1DF7-C8F9-7414-27BC280DEA0F}"/>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4" name="Marcador de texto 2">
            <a:extLst>
              <a:ext uri="{FF2B5EF4-FFF2-40B4-BE49-F238E27FC236}">
                <a16:creationId xmlns:a16="http://schemas.microsoft.com/office/drawing/2014/main" id="{EBC8DCFA-5565-A757-1F8D-F4CCCF573A63}"/>
              </a:ext>
            </a:extLst>
          </p:cNvPr>
          <p:cNvSpPr txBox="1">
            <a:spLocks/>
          </p:cNvSpPr>
          <p:nvPr/>
        </p:nvSpPr>
        <p:spPr>
          <a:xfrm>
            <a:off x="571500" y="10668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dirty="0"/>
              <a:t>Now, we are going to implement the design parameters in the MZI model developed in SAX and compare the response obtained with the one simulated by mathematical formulation. This will help us to identify any error in the definition of the SAX model single components. </a:t>
            </a:r>
          </a:p>
          <a:p>
            <a:br>
              <a:rPr lang="en-US" dirty="0"/>
            </a:br>
            <a:r>
              <a:rPr lang="en-US" dirty="0"/>
              <a:t>In order to implement the SAX model, take as example the following lines:</a:t>
            </a:r>
          </a:p>
          <a:p>
            <a:endParaRPr lang="en-US" dirty="0"/>
          </a:p>
          <a:p>
            <a:pPr lvl="2">
              <a:lnSpc>
                <a:spcPts val="1425"/>
              </a:lnSpc>
            </a:pPr>
            <a:r>
              <a:rPr lang="es-ES" sz="1400" b="0" dirty="0">
                <a:effectLst/>
                <a:latin typeface="Courier New" panose="02070309020205020404" pitchFamily="49" charset="0"/>
              </a:rPr>
              <a:t> </a:t>
            </a:r>
            <a:r>
              <a:rPr lang="es-ES" sz="1400" b="0" dirty="0" err="1">
                <a:effectLst/>
                <a:latin typeface="Courier New" panose="02070309020205020404" pitchFamily="49" charset="0"/>
              </a:rPr>
              <a:t>mzi_test</a:t>
            </a:r>
            <a:r>
              <a:rPr lang="es-ES" sz="1400" b="0" dirty="0">
                <a:effectLst/>
                <a:latin typeface="Courier New" panose="02070309020205020404" pitchFamily="49" charset="0"/>
              </a:rPr>
              <a:t> = </a:t>
            </a:r>
            <a:r>
              <a:rPr lang="es-ES" sz="1400" b="0" dirty="0" err="1">
                <a:effectLst/>
                <a:latin typeface="Courier New" panose="02070309020205020404" pitchFamily="49" charset="0"/>
              </a:rPr>
              <a:t>mzi</a:t>
            </a:r>
            <a:r>
              <a:rPr lang="es-ES" sz="1400" b="0" dirty="0">
                <a:effectLst/>
                <a:latin typeface="Courier New" panose="02070309020205020404" pitchFamily="49" charset="0"/>
              </a:rPr>
              <a:t>(</a:t>
            </a:r>
            <a:r>
              <a:rPr lang="es-ES" sz="1400" b="0" dirty="0" err="1">
                <a:effectLst/>
                <a:latin typeface="Courier New" panose="02070309020205020404" pitchFamily="49" charset="0"/>
              </a:rPr>
              <a:t>wl</a:t>
            </a:r>
            <a:r>
              <a:rPr lang="es-ES" sz="1400" b="0" dirty="0">
                <a:effectLst/>
                <a:latin typeface="Courier New" panose="02070309020205020404" pitchFamily="49" charset="0"/>
              </a:rPr>
              <a:t>=</a:t>
            </a:r>
            <a:r>
              <a:rPr lang="es-ES" sz="1400" b="0" dirty="0" err="1">
                <a:effectLst/>
                <a:latin typeface="Courier New" panose="02070309020205020404" pitchFamily="49" charset="0"/>
              </a:rPr>
              <a:t>wl</a:t>
            </a:r>
            <a:r>
              <a:rPr lang="es-ES" sz="1400" b="0" dirty="0">
                <a:effectLst/>
                <a:latin typeface="Courier New" panose="02070309020205020404" pitchFamily="49" charset="0"/>
              </a:rPr>
              <a:t>, </a:t>
            </a:r>
          </a:p>
          <a:p>
            <a:pPr lvl="2">
              <a:lnSpc>
                <a:spcPts val="1425"/>
              </a:lnSpc>
            </a:pPr>
            <a:r>
              <a:rPr lang="es-ES" sz="1400" b="0" dirty="0">
                <a:effectLst/>
                <a:latin typeface="Courier New" panose="02070309020205020404" pitchFamily="49" charset="0"/>
              </a:rPr>
              <a:t>    </a:t>
            </a:r>
            <a:r>
              <a:rPr lang="es-ES" sz="1400" b="0" dirty="0" err="1">
                <a:effectLst/>
                <a:latin typeface="Courier New" panose="02070309020205020404" pitchFamily="49" charset="0"/>
              </a:rPr>
              <a:t>coup_a</a:t>
            </a:r>
            <a:r>
              <a:rPr lang="es-ES" sz="1400" b="0" dirty="0">
                <a:effectLst/>
                <a:latin typeface="Courier New" panose="02070309020205020404" pitchFamily="49" charset="0"/>
              </a:rPr>
              <a:t> = ...</a:t>
            </a:r>
          </a:p>
          <a:p>
            <a:pPr lvl="2">
              <a:lnSpc>
                <a:spcPts val="1425"/>
              </a:lnSpc>
            </a:pPr>
            <a:r>
              <a:rPr lang="es-ES" sz="1400" b="0" dirty="0">
                <a:effectLst/>
                <a:latin typeface="Courier New" panose="02070309020205020404" pitchFamily="49" charset="0"/>
              </a:rPr>
              <a:t>    </a:t>
            </a:r>
            <a:r>
              <a:rPr lang="es-ES" sz="1400" b="0" dirty="0" err="1">
                <a:effectLst/>
                <a:latin typeface="Courier New" panose="02070309020205020404" pitchFamily="49" charset="0"/>
              </a:rPr>
              <a:t>wvg_d</a:t>
            </a:r>
            <a:r>
              <a:rPr lang="es-ES" sz="1400" b="0" dirty="0">
                <a:effectLst/>
                <a:latin typeface="Courier New" panose="02070309020205020404" pitchFamily="49" charset="0"/>
              </a:rPr>
              <a:t>={"</a:t>
            </a:r>
            <a:r>
              <a:rPr lang="es-ES" sz="1400" b="0" dirty="0" err="1">
                <a:effectLst/>
                <a:latin typeface="Courier New" panose="02070309020205020404" pitchFamily="49" charset="0"/>
              </a:rPr>
              <a:t>length</a:t>
            </a:r>
            <a:r>
              <a:rPr lang="es-ES" sz="1400" b="0" dirty="0">
                <a:effectLst/>
                <a:latin typeface="Courier New" panose="02070309020205020404" pitchFamily="49" charset="0"/>
              </a:rPr>
              <a:t>": </a:t>
            </a:r>
            <a:r>
              <a:rPr lang="es-ES" sz="1400" b="0" dirty="0" err="1">
                <a:effectLst/>
                <a:latin typeface="Courier New" panose="02070309020205020404" pitchFamily="49" charset="0"/>
              </a:rPr>
              <a:t>l_d</a:t>
            </a:r>
            <a:r>
              <a:rPr lang="es-ES" sz="1400" b="0" dirty="0">
                <a:effectLst/>
                <a:latin typeface="Courier New" panose="02070309020205020404" pitchFamily="49" charset="0"/>
              </a:rPr>
              <a:t>, "</a:t>
            </a:r>
            <a:r>
              <a:rPr lang="es-ES" sz="1400" b="0" dirty="0" err="1">
                <a:effectLst/>
                <a:latin typeface="Courier New" panose="02070309020205020404" pitchFamily="49" charset="0"/>
              </a:rPr>
              <a:t>neff</a:t>
            </a:r>
            <a:r>
              <a:rPr lang="es-ES" sz="1400" b="0" dirty="0">
                <a:effectLst/>
                <a:latin typeface="Courier New" panose="02070309020205020404" pitchFamily="49" charset="0"/>
              </a:rPr>
              <a:t>": ...}, </a:t>
            </a:r>
          </a:p>
          <a:p>
            <a:pPr lvl="2">
              <a:lnSpc>
                <a:spcPts val="1425"/>
              </a:lnSpc>
            </a:pPr>
            <a:r>
              <a:rPr lang="es-ES" sz="1400" b="0" dirty="0">
                <a:effectLst/>
                <a:latin typeface="Courier New" panose="02070309020205020404" pitchFamily="49" charset="0"/>
              </a:rPr>
              <a:t>    </a:t>
            </a:r>
            <a:r>
              <a:rPr lang="es-ES" sz="1400" b="0" dirty="0" err="1">
                <a:effectLst/>
                <a:latin typeface="Courier New" panose="02070309020205020404" pitchFamily="49" charset="0"/>
              </a:rPr>
              <a:t>wvg_u</a:t>
            </a:r>
            <a:r>
              <a:rPr lang="es-ES" sz="1400" b="0" dirty="0">
                <a:effectLst/>
                <a:latin typeface="Courier New" panose="02070309020205020404" pitchFamily="49" charset="0"/>
              </a:rPr>
              <a:t>={"</a:t>
            </a:r>
            <a:r>
              <a:rPr lang="es-ES" sz="1400" b="0" dirty="0" err="1">
                <a:effectLst/>
                <a:latin typeface="Courier New" panose="02070309020205020404" pitchFamily="49" charset="0"/>
              </a:rPr>
              <a:t>length</a:t>
            </a:r>
            <a:r>
              <a:rPr lang="es-ES" sz="1400" b="0" dirty="0">
                <a:effectLst/>
                <a:latin typeface="Courier New" panose="02070309020205020404" pitchFamily="49" charset="0"/>
              </a:rPr>
              <a:t>": </a:t>
            </a:r>
            <a:r>
              <a:rPr lang="es-ES" sz="1400" b="0" dirty="0" err="1">
                <a:effectLst/>
                <a:latin typeface="Courier New" panose="02070309020205020404" pitchFamily="49" charset="0"/>
              </a:rPr>
              <a:t>l_u</a:t>
            </a:r>
            <a:r>
              <a:rPr lang="es-ES" sz="1400" b="0" dirty="0">
                <a:effectLst/>
                <a:latin typeface="Courier New" panose="02070309020205020404" pitchFamily="49" charset="0"/>
              </a:rPr>
              <a:t>, "</a:t>
            </a:r>
            <a:r>
              <a:rPr lang="es-ES" sz="1400" b="0" dirty="0" err="1">
                <a:effectLst/>
                <a:latin typeface="Courier New" panose="02070309020205020404" pitchFamily="49" charset="0"/>
              </a:rPr>
              <a:t>neff</a:t>
            </a:r>
            <a:r>
              <a:rPr lang="es-ES" sz="1400" b="0" dirty="0">
                <a:effectLst/>
                <a:latin typeface="Courier New" panose="02070309020205020404" pitchFamily="49" charset="0"/>
              </a:rPr>
              <a:t>": ...},</a:t>
            </a:r>
          </a:p>
          <a:p>
            <a:pPr lvl="2">
              <a:lnSpc>
                <a:spcPts val="1425"/>
              </a:lnSpc>
            </a:pPr>
            <a:r>
              <a:rPr lang="es-ES" sz="1400" b="0" dirty="0">
                <a:effectLst/>
                <a:latin typeface="Courier New" panose="02070309020205020404" pitchFamily="49" charset="0"/>
              </a:rPr>
              <a:t>    </a:t>
            </a:r>
            <a:r>
              <a:rPr lang="es-ES" sz="1400" b="0" dirty="0" err="1">
                <a:effectLst/>
                <a:latin typeface="Courier New" panose="02070309020205020404" pitchFamily="49" charset="0"/>
              </a:rPr>
              <a:t>coup_b</a:t>
            </a:r>
            <a:r>
              <a:rPr lang="es-ES" sz="1400" b="0" dirty="0">
                <a:effectLst/>
                <a:latin typeface="Courier New" panose="02070309020205020404" pitchFamily="49" charset="0"/>
              </a:rPr>
              <a:t> = ... )</a:t>
            </a:r>
          </a:p>
          <a:p>
            <a:pPr lvl="2">
              <a:lnSpc>
                <a:spcPts val="1425"/>
              </a:lnSpc>
            </a:pPr>
            <a:br>
              <a:rPr lang="es-ES" sz="1400" b="0" dirty="0">
                <a:effectLst/>
                <a:latin typeface="Courier New" panose="02070309020205020404" pitchFamily="49" charset="0"/>
              </a:rPr>
            </a:br>
            <a:r>
              <a:rPr lang="es-ES" sz="1400" b="0" dirty="0">
                <a:effectLst/>
                <a:latin typeface="Courier New" panose="02070309020205020404" pitchFamily="49" charset="0"/>
              </a:rPr>
              <a:t>    H00 = </a:t>
            </a:r>
            <a:r>
              <a:rPr lang="es-ES" sz="1400" b="0" dirty="0" err="1">
                <a:effectLst/>
                <a:latin typeface="Courier New" panose="02070309020205020404" pitchFamily="49" charset="0"/>
              </a:rPr>
              <a:t>mzi_test</a:t>
            </a:r>
            <a:r>
              <a:rPr lang="es-ES" sz="1400" b="0" dirty="0">
                <a:effectLst/>
                <a:latin typeface="Courier New" panose="02070309020205020404" pitchFamily="49" charset="0"/>
              </a:rPr>
              <a:t>["in0", "out0"]</a:t>
            </a:r>
          </a:p>
          <a:p>
            <a:endParaRPr lang="en-US" sz="2000" dirty="0"/>
          </a:p>
          <a:p>
            <a:pPr algn="just"/>
            <a:endParaRPr lang="en-US" sz="2000" dirty="0"/>
          </a:p>
          <a:p>
            <a:pPr algn="just"/>
            <a:endParaRPr lang="en-US" sz="2000" b="1" i="1" dirty="0"/>
          </a:p>
          <a:p>
            <a:pPr algn="just"/>
            <a:endParaRPr lang="en-US" sz="2000" kern="0" dirty="0">
              <a:solidFill>
                <a:sysClr val="windowText" lastClr="000000"/>
              </a:solidFill>
            </a:endParaRPr>
          </a:p>
          <a:p>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CA4A2D6E-5993-52B3-D251-1ADF2B0C8355}"/>
              </a:ext>
            </a:extLst>
          </p:cNvPr>
          <p:cNvSpPr txBox="1"/>
          <p:nvPr/>
        </p:nvSpPr>
        <p:spPr>
          <a:xfrm>
            <a:off x="609441" y="4860334"/>
            <a:ext cx="11199971" cy="1754326"/>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(copy here the code employed to obtain the transfer function employing SAX modeling and include the comparative plot of the models)</a:t>
            </a:r>
          </a:p>
          <a:p>
            <a:pPr algn="just"/>
            <a:endParaRPr lang="en-US" sz="1200" dirty="0">
              <a:latin typeface="Arial" panose="020B0604020202020204" pitchFamily="34" charset="0"/>
              <a:cs typeface="Arial" panose="020B0604020202020204" pitchFamily="34" charset="0"/>
            </a:endParaRP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La perfecta correspondencia entre ambos modelos tanto de fase, FSR y amplitud valida las funciones de SAX desarrolladas y nos permite confiar en esta herramienta para el diseño de circuitos fotónicos más avanzados, garantizando que el comportamiento físico predicho por la teoría se mantiene en el entorno de simulación de circuitos.</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5" name="Marcador de pie de página 2">
            <a:extLst>
              <a:ext uri="{FF2B5EF4-FFF2-40B4-BE49-F238E27FC236}">
                <a16:creationId xmlns:a16="http://schemas.microsoft.com/office/drawing/2014/main" id="{ED97C9D0-256C-D4CA-42E7-79330F040B30}"/>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pic>
        <p:nvPicPr>
          <p:cNvPr id="6" name="Imagen 5">
            <a:extLst>
              <a:ext uri="{FF2B5EF4-FFF2-40B4-BE49-F238E27FC236}">
                <a16:creationId xmlns:a16="http://schemas.microsoft.com/office/drawing/2014/main" id="{0902A206-EFDE-16B8-421A-4662F8023D37}"/>
              </a:ext>
            </a:extLst>
          </p:cNvPr>
          <p:cNvPicPr>
            <a:picLocks noChangeAspect="1"/>
          </p:cNvPicPr>
          <p:nvPr/>
        </p:nvPicPr>
        <p:blipFill>
          <a:blip r:embed="rId5"/>
          <a:stretch>
            <a:fillRect/>
          </a:stretch>
        </p:blipFill>
        <p:spPr>
          <a:xfrm>
            <a:off x="7848600" y="2258678"/>
            <a:ext cx="3404199" cy="2160205"/>
          </a:xfrm>
          <a:prstGeom prst="rect">
            <a:avLst/>
          </a:prstGeom>
        </p:spPr>
      </p:pic>
    </p:spTree>
    <p:extLst>
      <p:ext uri="{BB962C8B-B14F-4D97-AF65-F5344CB8AC3E}">
        <p14:creationId xmlns:p14="http://schemas.microsoft.com/office/powerpoint/2010/main" val="36664368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nSpc>
                <a:spcPct val="100000"/>
              </a:lnSpc>
              <a:spcBef>
                <a:spcPts val="100"/>
              </a:spcBef>
            </a:pPr>
            <a:r>
              <a:rPr lang="en-US" sz="2500" dirty="0"/>
              <a:t>Extra assessments </a:t>
            </a:r>
            <a:endParaRPr lang="en-US" sz="2500" b="0" dirty="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4" name="Marcador de texto 2">
            <a:extLst>
              <a:ext uri="{FF2B5EF4-FFF2-40B4-BE49-F238E27FC236}">
                <a16:creationId xmlns:a16="http://schemas.microsoft.com/office/drawing/2014/main" id="{D838A93A-BFC8-0124-93CE-FDC193435A0C}"/>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b="1" dirty="0"/>
              <a:t>Assessment 4</a:t>
            </a:r>
            <a:r>
              <a:rPr lang="en-US" dirty="0"/>
              <a:t>. Design an MZI for filtering at a specific wavelength. Calculate and adjust the arm lengths to configure the MZI to have a maximum transmission at 1550 nm.</a:t>
            </a:r>
          </a:p>
          <a:p>
            <a:endParaRPr lang="en-US" b="1" dirty="0"/>
          </a:p>
          <a:p>
            <a:r>
              <a:rPr lang="en-US" b="1" dirty="0"/>
              <a:t>Assessment 5. </a:t>
            </a:r>
            <a:r>
              <a:rPr lang="en-US" dirty="0"/>
              <a:t>Let's see how the response of the MZI varies with the effective index. Vary the effective index of one of the arms and analyze how the spectrum shifts. To do this, you can use the data provided in the .txt files entitled ‘</a:t>
            </a:r>
            <a:r>
              <a:rPr lang="en-US" dirty="0" err="1"/>
              <a:t>SiN</a:t>
            </a:r>
            <a:r>
              <a:rPr lang="en-US" dirty="0"/>
              <a:t>’. Can you give an example of an application where this configuration is used?</a:t>
            </a:r>
          </a:p>
          <a:p>
            <a:pPr marL="0" indent="0">
              <a:buNone/>
            </a:pPr>
            <a:endParaRPr lang="en-US" dirty="0"/>
          </a:p>
          <a:p>
            <a:r>
              <a:rPr lang="en-US" b="1" dirty="0"/>
              <a:t>Advanced level assessment.</a:t>
            </a:r>
            <a:r>
              <a:rPr lang="en-US" dirty="0"/>
              <a:t> Explore how cascading two MZIs affects the transmission spectrum. To do so, design a system in which two MZIs are cascaded. Simulate and observe the spectrum, explaining how the transmission peaks behave</a:t>
            </a:r>
            <a:r>
              <a:rPr lang="en-US" b="1" dirty="0"/>
              <a:t>.</a:t>
            </a:r>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FDE3A197-9508-F9F1-1FEB-FF883D78C151}"/>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6" name="Marcador de pie de página 2">
            <a:extLst>
              <a:ext uri="{FF2B5EF4-FFF2-40B4-BE49-F238E27FC236}">
                <a16:creationId xmlns:a16="http://schemas.microsoft.com/office/drawing/2014/main" id="{04C1A7E9-6C33-172D-E7B9-CCF643221E6A}"/>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spTree>
    <p:extLst>
      <p:ext uri="{BB962C8B-B14F-4D97-AF65-F5344CB8AC3E}">
        <p14:creationId xmlns:p14="http://schemas.microsoft.com/office/powerpoint/2010/main" val="36604382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10</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1360</TotalTime>
  <Words>1053</Words>
  <Application>Microsoft Office PowerPoint</Application>
  <PresentationFormat>Panorámica</PresentationFormat>
  <Paragraphs>114</Paragraphs>
  <Slides>10</Slides>
  <Notes>4</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10</vt:i4>
      </vt:variant>
    </vt:vector>
  </HeadingPairs>
  <TitlesOfParts>
    <vt:vector size="18" baseType="lpstr">
      <vt:lpstr>Aptos</vt:lpstr>
      <vt:lpstr>Arial</vt:lpstr>
      <vt:lpstr>Calibri</vt:lpstr>
      <vt:lpstr>Cambria Math</vt:lpstr>
      <vt:lpstr>Courier New</vt:lpstr>
      <vt:lpstr>Lucida Sans</vt:lpstr>
      <vt:lpstr>Wingdings</vt:lpstr>
      <vt:lpstr>Office Theme</vt:lpstr>
      <vt:lpstr>Presentación de PowerPoint</vt:lpstr>
      <vt:lpstr>Instructions General</vt:lpstr>
      <vt:lpstr>ASSESSMENT #1 – Recap from theory – MZI configurations </vt:lpstr>
      <vt:lpstr>Unbalanced: Phase difference</vt:lpstr>
      <vt:lpstr>Delay imbalance</vt:lpstr>
      <vt:lpstr>Amplitude imbalance</vt:lpstr>
      <vt:lpstr>ASSESSMENT #2 – Recap from theory – Calculation of ΔL  </vt:lpstr>
      <vt:lpstr>ASSESSMENT #3 – SAX implementation  </vt:lpstr>
      <vt:lpstr>Extra assessments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Andres Manuel Sanchez-Toril Bastrygina</cp:lastModifiedBy>
  <cp:revision>21</cp:revision>
  <dcterms:created xsi:type="dcterms:W3CDTF">2025-01-27T02:46:57Z</dcterms:created>
  <dcterms:modified xsi:type="dcterms:W3CDTF">2026-03-23T18:21:49Z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